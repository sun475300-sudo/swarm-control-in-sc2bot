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tableStyles.xml" ContentType="application/vnd.openxmlformats-officedocument.presentationml.tableStyles+xml"/>
  <Override PartName="/ppt/viewProps.xml" ContentType="application/vnd.openxmlformats-officedocument.presentationml.viewPro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</Types>
</file>

<file path=_rels/.rels><?xml version="1.0" encoding="UTF-8"?>
<Relationships xmlns="http://schemas.openxmlformats.org/package/2006/relationships"><Relationship Id="rId1" Type="http://schemas.openxmlformats.org/officeDocument/2006/relationships/officeDocument" Target="ppt/presentation.xml"></Relationship><Relationship Id="rId2" Type="http://schemas.openxmlformats.org/package/2006/relationships/metadata/core-properties" Target="docProps/core.xml"></Relationship><Relationship Id="rId3" Type="http://schemas.openxmlformats.org/officeDocument/2006/relationships/extended-properties" Target="docProps/app.xml"></Relationship><Relationship Id="rId4" Type="http://schemas.openxmlformats.org/package/2006/relationships/metadata/thumbnail" Target="docProps/thumbnail.jpeg"></Relationship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 saveSubsetFonts="1" autoCompressPictures="0">
  <p:sldMasterIdLst>
    <p:sldMasterId id="2147483661" r:id="rId14"/>
  </p:sldMasterIdLst>
  <p:notesMasterIdLst>
    <p:notesMasterId r:id="rId16"/>
  </p:notesMasterIdLst>
  <p:sldIdLst>
    <p:sldId id="256" r:id="rId18"/>
    <p:sldId id="257" r:id="rId20"/>
    <p:sldId id="258" r:id="rId21"/>
    <p:sldId id="259" r:id="rId22"/>
    <p:sldId id="260" r:id="rId24"/>
    <p:sldId id="261" r:id="rId25"/>
    <p:sldId id="262" r:id="rId27"/>
    <p:sldId id="263" r:id="rId2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0" orient="horz" pos="2159" userDrawn="1">
          <p15:clr>
            <a:srgbClr val="A4A3A4"/>
          </p15:clr>
        </p15:guide>
        <p15:guide id="1" pos="287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</p:extLst>
  </p:showPr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59"/>
        <p:guide pos="2879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?>
<Relationships xmlns="http://schemas.openxmlformats.org/package/2006/relationships"><Relationship Id="rId1" Type="http://schemas.openxmlformats.org/officeDocument/2006/relationships/printerSettings" Target="printerSettings/printerSettings1.bin"></Relationship><Relationship Id="rId2" Type="http://schemas.openxmlformats.org/officeDocument/2006/relationships/tableStyles" Target="tableStyles.xml"></Relationship><Relationship Id="rId14" Type="http://schemas.openxmlformats.org/officeDocument/2006/relationships/slideMaster" Target="slideMasters/slideMaster1.xml"></Relationship><Relationship Id="rId15" Type="http://schemas.openxmlformats.org/officeDocument/2006/relationships/theme" Target="theme/theme1.xml"></Relationship><Relationship Id="rId16" Type="http://schemas.openxmlformats.org/officeDocument/2006/relationships/notesMaster" Target="notesMasters/notesMaster1.xml"></Relationship><Relationship Id="rId18" Type="http://schemas.openxmlformats.org/officeDocument/2006/relationships/slide" Target="slides/slide1.xml"></Relationship><Relationship Id="rId20" Type="http://schemas.openxmlformats.org/officeDocument/2006/relationships/slide" Target="slides/slide2.xml"></Relationship><Relationship Id="rId21" Type="http://schemas.openxmlformats.org/officeDocument/2006/relationships/slide" Target="slides/slide3.xml"></Relationship><Relationship Id="rId22" Type="http://schemas.openxmlformats.org/officeDocument/2006/relationships/slide" Target="slides/slide4.xml"></Relationship><Relationship Id="rId24" Type="http://schemas.openxmlformats.org/officeDocument/2006/relationships/slide" Target="slides/slide5.xml"></Relationship><Relationship Id="rId25" Type="http://schemas.openxmlformats.org/officeDocument/2006/relationships/slide" Target="slides/slide6.xml"></Relationship><Relationship Id="rId27" Type="http://schemas.openxmlformats.org/officeDocument/2006/relationships/slide" Target="slides/slide7.xml"></Relationship><Relationship Id="rId28" Type="http://schemas.openxmlformats.org/officeDocument/2006/relationships/slide" Target="slides/slide8.xml"></Relationship><Relationship Id="rId34" Type="http://schemas.openxmlformats.org/officeDocument/2006/relationships/viewProps" Target="viewProps.xml"></Relationship><Relationship Id="rId35" Type="http://schemas.openxmlformats.org/officeDocument/2006/relationships/presProps" Target="presProps.xml"></Relationship></Relationships>
</file>

<file path=ppt/notesMasters/_rels/notesMaster1.xml.rels><?xml version="1.0" encoding="UTF-8"?>
<Relationships xmlns="http://schemas.openxmlformats.org/package/2006/relationships"><Relationship Id="rId1" Type="http://schemas.openxmlformats.org/officeDocument/2006/relationships/theme" Target="../theme/theme2.xml"></Relationship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
<Relationships xmlns="http://schemas.openxmlformats.org/package/2006/relationships"><Relationship Id="rId1" Type="http://schemas.openxmlformats.org/officeDocument/2006/relationships/notesMaster" Target="../notesMasters/notesMaster1.xml"></Relationship><Relationship Id="rId2" Type="http://schemas.openxmlformats.org/officeDocument/2006/relationships/slide" Target="../slides/slide1.xml"></Relationship></Relationships>
</file>

<file path=ppt/notesSlides/_rels/notesSlide2.xml.rels><?xml version="1.0" encoding="UTF-8"?>
<Relationships xmlns="http://schemas.openxmlformats.org/package/2006/relationships"><Relationship Id="rId1" Type="http://schemas.openxmlformats.org/officeDocument/2006/relationships/notesMaster" Target="../notesMasters/notesMaster1.xml"></Relationship><Relationship Id="rId2" Type="http://schemas.openxmlformats.org/officeDocument/2006/relationships/slide" Target="../slides/slide2.xml"></Relationship></Relationships>
</file>

<file path=ppt/notesSlides/_rels/notesSlide3.xml.rels><?xml version="1.0" encoding="UTF-8"?>
<Relationships xmlns="http://schemas.openxmlformats.org/package/2006/relationships"><Relationship Id="rId1" Type="http://schemas.openxmlformats.org/officeDocument/2006/relationships/notesMaster" Target="../notesMasters/notesMaster1.xml"></Relationship><Relationship Id="rId2" Type="http://schemas.openxmlformats.org/officeDocument/2006/relationships/slide" Target="../slides/slide3.xml"></Relationship></Relationships>
</file>

<file path=ppt/notesSlides/_rels/notesSlide4.xml.rels><?xml version="1.0" encoding="UTF-8"?>
<Relationships xmlns="http://schemas.openxmlformats.org/package/2006/relationships"><Relationship Id="rId1" Type="http://schemas.openxmlformats.org/officeDocument/2006/relationships/notesMaster" Target="../notesMasters/notesMaster1.xml"></Relationship><Relationship Id="rId2" Type="http://schemas.openxmlformats.org/officeDocument/2006/relationships/slide" Target="../slides/slide4.xml"></Relationship></Relationships>
</file>

<file path=ppt/notesSlides/_rels/notesSlide5.xml.rels><?xml version="1.0" encoding="UTF-8"?>
<Relationships xmlns="http://schemas.openxmlformats.org/package/2006/relationships"><Relationship Id="rId1" Type="http://schemas.openxmlformats.org/officeDocument/2006/relationships/notesMaster" Target="../notesMasters/notesMaster1.xml"></Relationship><Relationship Id="rId2" Type="http://schemas.openxmlformats.org/officeDocument/2006/relationships/slide" Target="../slides/slide5.xml"></Relationship></Relationships>
</file>

<file path=ppt/notesSlides/_rels/notesSlide6.xml.rels><?xml version="1.0" encoding="UTF-8"?>
<Relationships xmlns="http://schemas.openxmlformats.org/package/2006/relationships"><Relationship Id="rId1" Type="http://schemas.openxmlformats.org/officeDocument/2006/relationships/notesMaster" Target="../notesMasters/notesMaster1.xml"></Relationship><Relationship Id="rId2" Type="http://schemas.openxmlformats.org/officeDocument/2006/relationships/slide" Target="../slides/slide6.xml"></Relationship></Relationships>
</file>

<file path=ppt/notesSlides/_rels/notesSlide7.xml.rels><?xml version="1.0" encoding="UTF-8"?>
<Relationships xmlns="http://schemas.openxmlformats.org/package/2006/relationships"><Relationship Id="rId1" Type="http://schemas.openxmlformats.org/officeDocument/2006/relationships/notesMaster" Target="../notesMasters/notesMaster1.xml"></Relationship><Relationship Id="rId2" Type="http://schemas.openxmlformats.org/officeDocument/2006/relationships/slide" Target="../slides/slide7.xml"></Relationship></Relationships>
</file>

<file path=ppt/notesSlides/_rels/notesSlide8.xml.rels><?xml version="1.0" encoding="UTF-8"?>
<Relationships xmlns="http://schemas.openxmlformats.org/package/2006/relationships"><Relationship Id="rId1" Type="http://schemas.openxmlformats.org/officeDocument/2006/relationships/notesMaster" Target="../notesMasters/notesMaster1.xml"></Relationship><Relationship Id="rId2" Type="http://schemas.openxmlformats.org/officeDocument/2006/relationships/slide" Target="../slides/slide8.xml"></Relationship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200"/>
            </a:pPr>
            <a:r>
              <a:t>안녕하십니까, 국립목포대학교 드론기계학과 장선우입니다. 오늘 제가 제안할 솔루션은 단순히 하늘을 나는 기체를 넘어, 하늘의 새로운 질서를 통제하는 시스템입니다. 군사 통신 및 드론 운용 현장에서 느꼈던 한계를 소프트웨어로 극복하고자 기획한 'Swarm-Net: 군집 드론 기반 다이내믹 공역 통제 시스템' 발표를 시작하겠습니다.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200"/>
            </a:pPr>
            <a:r>
              <a:t>국내 등록 드론 수가 기하급수적으로 늘어나면서 도심 상공은 통제하기 어려운 영역이 되었습니다. 군 생활 당시 야전에서 경험한 바에 따르면, 기존의 지상 기반 고정 레이더는 산악 지형이나 복잡한 환경에서 치명적인 사각지대를 발생시킵니다. 긴급 상황이 발생했을 때 신속하게 방어망을 전개할 수 있는 유연한 관제 인프라가 절실히 필요한 시점입니다.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200"/>
            </a:pPr>
            <a:r>
              <a:t>그래서 저희는 '관제탑을 하늘로 띄우자'는 역발상을 했습니다. 수억 원이 드는 고정 인프라 대신, 여러 대의 통제용 군집 드론을 출격시킵니다. 이 군집 드론들이 상공에서 서로 Mesh Network를 형성하여 실시간 통신망을 구축하고, 거대한 레이더 돔(Dome) 형태의 통제 공역을 스스로 만들어냅니다.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200"/>
            </a:pPr>
            <a:r>
              <a:t>이 거대한 시스템을 통제하는 두뇌는 바로 'Sim-to-Real' 기술입니다. 저는 이 알고리즘을 스타크래프트 2의 저그 봇(Zerg Bot) 군집 제어 강화학습 모델에서 발전시켰습니다. 1만 번 이상의 시뮬레이션으로 검증된 군집의 자율 산개 및 진형 유지 로직을, 3D 공간의 물리적 변수와 안전 제약을 보정하여 실제 드론의 Flight Controller(비행 제어기)로 직접 이식했습니다. 게임의 AI가 현실의 공역 관제 로직으로 재탄생한 것입니다.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200"/>
            </a:pPr>
            <a:r>
              <a:t>이 복잡한 로직이 실제 관제 환경에서 어떻게 작동하는지 Web 기반 3D 인터랙티브 시뮬레이터로 구현했습니다. 보시는 바와 같이 레이더망에 진입한 유저 드론은 즉시 고유 식별자가 부여되고 3D 좌표가 추적됩니다.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200"/>
            </a:pPr>
            <a:r>
              <a:t>관제 대시보드는 이를 자동화하여 체공 시간을 관리합니다. 시간이 임박하면 주의 알림이 전송되고, 허가된 시간이 초과되면 붉은색 경고와 함께 조종자에게 강제 복귀 명령이 발령됩니다. 중앙 서버와 드론 간의 지연 없는 통신(Low Latency)으로 이 모든 과정이 이루어집니다.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200"/>
            </a:pPr>
            <a:r>
              <a:t>군사 통신이나 야전 작전 구역, 재난 현장처럼 인프라가 없는 곳에서 Swarm-Net은 이동식 관제탑으로서 압도적인 성능을 발휘합니다.</a:t>
            </a:r>
          </a:p>
          <a:p>
            <a:pPr>
              <a:defRPr sz="1200"/>
            </a:pPr>
          </a:p>
          <a:p>
            <a:pPr>
              <a:defRPr sz="1200"/>
            </a:pPr>
            <a:r>
              <a:t>물론 군집 드론의 짧은 배터리 타임이 약점으로 지적될 수 있습니다. 이를 극복하기 위해 핵심 통신 노드는 지상에서 직접 전력을 공급받는 '유선 테더링(Tethered)' 방식으로 전개하고, 주변 노드들은 그룹을 나누어 '교대 비행(Relay)'하는 프로토콜을 도입하여 24시간 끊김 없는 관제망을 유지하도록 설계했습니다.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200"/>
            </a:pPr>
            <a:r>
              <a:t>드론은 이미 배송과 모빌리티(UAM)의 영역으로 진입했습니다. 이제 하늘은 방치된 공간이 아니라, 안전하고 유연하게 통제되는 새로운 인프라여야 합니다.</a:t>
            </a:r>
          </a:p>
          <a:p>
            <a:pPr>
              <a:defRPr sz="1200"/>
            </a:pPr>
          </a:p>
          <a:p>
            <a:pPr>
              <a:defRPr sz="1200"/>
            </a:pPr>
            <a:r>
              <a:t>가상의 군집 제어 AI를 현실의 공역 관제 솔루션으로 끌어낸 Swarm-Net이 그 기준을 제시할 것입니다. 경청해 주셔서 감사합니다. 질문 받겠습니다.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
<Relationships xmlns="http://schemas.openxmlformats.org/package/2006/relationships"><Relationship Id="rId1" Type="http://schemas.openxmlformats.org/officeDocument/2006/relationships/slideLayout" Target="../slideLayouts/slideLayout7.xml"></Relationship><Relationship Id="rId2" Type="http://schemas.openxmlformats.org/officeDocument/2006/relationships/image" Target="../media/image1.png"></Relationship><Relationship Id="rId3" Type="http://schemas.openxmlformats.org/officeDocument/2006/relationships/notesSlide" Target="../notesSlides/notesSlide1.xml"></Relationship></Relationships>
</file>

<file path=ppt/slides/_rels/slide2.xml.rels><?xml version="1.0" encoding="UTF-8"?>
<Relationships xmlns="http://schemas.openxmlformats.org/package/2006/relationships"><Relationship Id="rId2" Type="http://schemas.openxmlformats.org/officeDocument/2006/relationships/image" Target="../media/image2.png"></Relationship><Relationship Id="rId3" Type="http://schemas.openxmlformats.org/officeDocument/2006/relationships/notesSlide" Target="../notesSlides/notesSlide2.xml"></Relationship><Relationship Id="rId4" Type="http://schemas.openxmlformats.org/officeDocument/2006/relationships/slideLayout" Target="../slideLayouts/slideLayout7.xml"></Relationship></Relationships>
</file>

<file path=ppt/slides/_rels/slide3.xml.rels><?xml version="1.0" encoding="UTF-8"?>
<Relationships xmlns="http://schemas.openxmlformats.org/package/2006/relationships"><Relationship Id="rId2" Type="http://schemas.openxmlformats.org/officeDocument/2006/relationships/image" Target="../media/image3.png"></Relationship><Relationship Id="rId3" Type="http://schemas.openxmlformats.org/officeDocument/2006/relationships/notesSlide" Target="../notesSlides/notesSlide3.xml"></Relationship><Relationship Id="rId4" Type="http://schemas.openxmlformats.org/officeDocument/2006/relationships/slideLayout" Target="../slideLayouts/slideLayout7.xml"></Relationship></Relationships>
</file>

<file path=ppt/slides/_rels/slide4.xml.rels><?xml version="1.0" encoding="UTF-8"?>
<Relationships xmlns="http://schemas.openxmlformats.org/package/2006/relationships"><Relationship Id="rId1" Type="http://schemas.openxmlformats.org/officeDocument/2006/relationships/slideLayout" Target="../slideLayouts/slideLayout7.xml"></Relationship><Relationship Id="rId2" Type="http://schemas.openxmlformats.org/officeDocument/2006/relationships/notesSlide" Target="../notesSlides/notesSlide4.xml"></Relationship></Relationships>
</file>

<file path=ppt/slides/_rels/slide5.xml.rels><?xml version="1.0" encoding="UTF-8"?>
<Relationships xmlns="http://schemas.openxmlformats.org/package/2006/relationships"><Relationship Id="rId2" Type="http://schemas.openxmlformats.org/officeDocument/2006/relationships/image" Target="../media/image4.png"></Relationship><Relationship Id="rId3" Type="http://schemas.openxmlformats.org/officeDocument/2006/relationships/notesSlide" Target="../notesSlides/notesSlide5.xml"></Relationship><Relationship Id="rId4" Type="http://schemas.openxmlformats.org/officeDocument/2006/relationships/slideLayout" Target="../slideLayouts/slideLayout7.xml"></Relationship></Relationships>
</file>

<file path=ppt/slides/_rels/slide6.xml.rels><?xml version="1.0" encoding="UTF-8"?>
<Relationships xmlns="http://schemas.openxmlformats.org/package/2006/relationships"><Relationship Id="rId1" Type="http://schemas.openxmlformats.org/officeDocument/2006/relationships/slideLayout" Target="../slideLayouts/slideLayout7.xml"></Relationship><Relationship Id="rId2" Type="http://schemas.openxmlformats.org/officeDocument/2006/relationships/image" Target="../media/image5.png"></Relationship><Relationship Id="rId3" Type="http://schemas.openxmlformats.org/officeDocument/2006/relationships/notesSlide" Target="../notesSlides/notesSlide6.xml"></Relationship></Relationships>
</file>

<file path=ppt/slides/_rels/slide7.xml.rels><?xml version="1.0" encoding="UTF-8"?>
<Relationships xmlns="http://schemas.openxmlformats.org/package/2006/relationships"><Relationship Id="rId2" Type="http://schemas.openxmlformats.org/officeDocument/2006/relationships/image" Target="../media/image6.png"></Relationship><Relationship Id="rId3" Type="http://schemas.openxmlformats.org/officeDocument/2006/relationships/notesSlide" Target="../notesSlides/notesSlide7.xml"></Relationship><Relationship Id="rId4" Type="http://schemas.openxmlformats.org/officeDocument/2006/relationships/slideLayout" Target="../slideLayouts/slideLayout7.xml"></Relationship></Relationships>
</file>

<file path=ppt/slides/_rels/slide8.xml.rels><?xml version="1.0" encoding="UTF-8"?>
<Relationships xmlns="http://schemas.openxmlformats.org/package/2006/relationships"><Relationship Id="rId3" Type="http://schemas.openxmlformats.org/officeDocument/2006/relationships/notesSlide" Target="../notesSlides/notesSlide8.xml"></Relationship><Relationship Id="rId4" Type="http://schemas.openxmlformats.org/officeDocument/2006/relationships/slideLayout" Target="../slideLayouts/slideLayout7.xml"></Relationship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1097280"/>
            <a:ext cx="2194560" cy="310896"/>
          </a:xfrm>
          <a:prstGeom prst="roundRect">
            <a:avLst/>
          </a:prstGeom>
          <a:solidFill>
            <a:srgbClr val="00FF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0B101F"/>
                </a:solidFill>
                <a:latin typeface="Consolas"/>
              </a:defRPr>
            </a:pPr>
            <a:r>
              <a:t>CAPSTONE PROJECT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554480"/>
            <a:ext cx="731520" cy="38100"/>
          </a:xfrm>
          <a:prstGeom prst="rect">
            <a:avLst/>
          </a:prstGeom>
          <a:solidFill>
            <a:srgbClr val="00FF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7315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Malgun Gothic"/>
              </a:defRPr>
            </a:pPr>
            <a:r>
              <a:t>하늘의 새로운 질서를</a:t>
            </a:r>
            <a:br/>
            <a:r>
              <a:t>구축하다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0175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E8E8E8"/>
                </a:solidFill>
                <a:latin typeface="Malgun Gothic"/>
              </a:defRPr>
            </a:pPr>
            <a:r>
              <a:t>군집 UAV 기반 다이내믹 공역 통제 시스템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5661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FFCC"/>
                </a:solidFill>
                <a:latin typeface="Consolas"/>
              </a:defRPr>
            </a:pPr>
            <a:r>
              <a:t>Swarm-Net Airspace Manager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38912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0A8B8"/>
                </a:solidFill>
                <a:latin typeface="Malgun Gothic"/>
              </a:defRPr>
            </a:pPr>
            <a:r>
              <a:t>StarCraft II 군단 제어 AI 기반</a:t>
            </a:r>
            <a:br/>
            <a:r>
              <a:t>Sim-to-Real 관제(ATC) 솔루션</a:t>
            </a:r>
          </a:p>
        </p:txBody>
      </p:sp>
      <p:sp>
        <p:nvSpPr>
          <p:cNvPr id="8" name="Hexagon 7"/>
          <p:cNvSpPr/>
          <p:nvPr/>
        </p:nvSpPr>
        <p:spPr>
          <a:xfrm rot="1800000">
            <a:off x="8686800" y="1371600"/>
            <a:ext cx="2286000" cy="2286000"/>
          </a:xfrm>
          <a:prstGeom prst="hexagon">
            <a:avLst/>
          </a:prstGeom>
          <a:noFill/>
          <a:ln w="25400">
            <a:solidFill>
              <a:srgbClr val="00B8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Hexagon 8"/>
          <p:cNvSpPr/>
          <p:nvPr/>
        </p:nvSpPr>
        <p:spPr>
          <a:xfrm rot="1800000">
            <a:off x="9144000" y="1828800"/>
            <a:ext cx="1371600" cy="1371600"/>
          </a:xfrm>
          <a:prstGeom prst="hexagon">
            <a:avLst/>
          </a:prstGeom>
          <a:noFill/>
          <a:ln w="12700">
            <a:solidFill>
              <a:srgbClr val="0088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lide1_swarm_he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914400"/>
            <a:ext cx="4114800" cy="4114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65760" y="63093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B894"/>
                </a:solidFill>
                <a:latin typeface="Consolas"/>
              </a:defRPr>
            </a:pPr>
            <a:r>
              <a:t>SWARM-NET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63093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A0A8B8"/>
                </a:solidFill>
                <a:latin typeface="Consolas"/>
              </a:defRPr>
            </a:pPr>
            <a:r>
              <a:t>01 / 08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>
  <p:cSld>
    <p:bg>
      <p:bgPr>
        <a:solidFill>
          <a:srgbClr val="0B101F"/>
        </a:solidFill>
      </p:bgPr>
    </p:bg>
    <p:spTree>
      <p:nvGrpSpPr>
        <p:cNvPr id="1" name=""/>
        <p:cNvGrpSpPr/>
        <p:nvPr/>
      </p:nvGrpSpPr>
      <p:grpSpPr/>
      <p:pic>
        <p:nvPicPr>
          <p:cNvPr id="2" name="Picture 1" descr="C:/Users/sun47/AppData/Roaming/PolarisOffice/ETemp/45692_23558248/image2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0">
            <a:off x="8354695" y="180975"/>
            <a:ext cx="3419475" cy="2435225"/>
          </a:xfrm>
          <a:prstGeom prst="rect"/>
          <a:noFill/>
        </p:spPr>
      </p:pic>
      <p:sp>
        <p:nvSpPr>
          <p:cNvPr id="3" name="Rounded Rectangle 2"/>
          <p:cNvSpPr/>
          <p:nvPr/>
        </p:nvSpPr>
        <p:spPr>
          <a:xfrm>
            <a:off x="731520" y="548640"/>
            <a:ext cx="2194560" cy="31115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0B101F"/>
                </a:solidFill>
                <a:latin typeface="Consolas"/>
              </a:defRPr>
            </a:pPr>
            <a:r>
              <a:t>BACKGROUND &amp; PROBLEM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05840"/>
            <a:ext cx="731520" cy="38100"/>
          </a:xfrm>
          <a:prstGeom prst="rect">
            <a:avLst/>
          </a:prstGeom>
          <a:solidFill>
            <a:srgbClr val="00FF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>
            <a:spLocks/>
          </p:cNvSpPr>
          <p:nvPr/>
        </p:nvSpPr>
        <p:spPr>
          <a:xfrm rot="0">
            <a:off x="370205" y="1179195"/>
            <a:ext cx="9144635" cy="1097915"/>
          </a:xfrm>
          <a:prstGeom prst="rect"/>
          <a:noFill/>
        </p:spPr>
        <p:txBody>
          <a:bodyPr wrap="square" lIns="91440" tIns="45720" rIns="91440" bIns="45720" numCol="1" vert="horz" anchor="t">
            <a:spAutoFit/>
          </a:bodyPr>
          <a:lstStyle/>
          <a:p>
            <a:pPr marL="0" indent="0" algn="l">
              <a:buFontTx/>
              <a:buNone/>
              <a:defRPr sz="3600" b="1">
                <a:solidFill>
                  <a:srgbClr val="FFFFFF"/>
                </a:solidFill>
                <a:latin typeface="Malgun Gothic" charset="0"/>
              </a:defRPr>
            </a:pPr>
            <a:r>
              <a:rPr/>
              <a:t>고정형 지상 레이더의</a:t>
            </a:r>
            <a:r>
              <a:rPr/>
              <a:t/>
            </a:r>
            <a:br>
              <a:rPr/>
            </a:br>
            <a:r>
              <a:rPr/>
              <a:t>구조적 한계와 급증하는 저고도 비행체</a:t>
            </a:r>
            <a:endParaRPr lang="ko-KR" altLang="en-US"/>
          </a:p>
        </p:txBody>
      </p:sp>
      <p:sp>
        <p:nvSpPr>
          <p:cNvPr id="6" name="Rounded Rectangle 5"/>
          <p:cNvSpPr/>
          <p:nvPr/>
        </p:nvSpPr>
        <p:spPr>
          <a:xfrm>
            <a:off x="731520" y="2743200"/>
            <a:ext cx="3383280" cy="2011680"/>
          </a:xfrm>
          <a:prstGeom prst="roundRect">
            <a:avLst/>
          </a:prstGeom>
          <a:solidFill>
            <a:srgbClr val="121A2E"/>
          </a:solidFill>
          <a:ln w="25400">
            <a:solidFill>
              <a:srgbClr val="FF4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301752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4545"/>
                </a:solidFill>
                <a:latin typeface="Malgun Gothic"/>
              </a:defRPr>
            </a:pPr>
            <a:r>
              <a:t>탐지 사각지대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520440"/>
            <a:ext cx="28346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8E8"/>
                </a:solidFill>
                <a:latin typeface="Malgun Gothic"/>
              </a:defRPr>
            </a:pPr>
            <a:r>
              <a:t>산악·도심 고층 건물군의</a:t>
            </a:r>
            <a:br/>
            <a:r>
              <a:t>전파 음영으로 고정 레이더가</a:t>
            </a:r>
            <a:br/>
            <a:r>
              <a:t>커버하지 못하는 저고도 영역 분포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60" y="2743200"/>
            <a:ext cx="3383280" cy="2011680"/>
          </a:xfrm>
          <a:prstGeom prst="roundRect">
            <a:avLst/>
          </a:prstGeom>
          <a:solidFill>
            <a:srgbClr val="121A2E"/>
          </a:solidFill>
          <a:ln w="25400"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0" y="301752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9800"/>
                </a:solidFill>
                <a:latin typeface="Malgun Gothic"/>
              </a:defRPr>
            </a:pPr>
            <a:r>
              <a:t>신속 전개 불가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3520440"/>
            <a:ext cx="28346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8E8"/>
                </a:solidFill>
                <a:latin typeface="Malgun Gothic"/>
              </a:defRPr>
            </a:pPr>
            <a:r>
              <a:t>고정 인프라 설치에 수 개월 소요</a:t>
            </a:r>
            <a:br/>
            <a:r>
              <a:t>긴급 상황 시 특정 지역으로</a:t>
            </a:r>
            <a:br/>
            <a:r>
              <a:t>관제망을 즉각 전개하기 어려움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2743200"/>
            <a:ext cx="3383280" cy="2011680"/>
          </a:xfrm>
          <a:prstGeom prst="roundRect">
            <a:avLst/>
          </a:prstGeom>
          <a:solidFill>
            <a:srgbClr val="121A2E"/>
          </a:solidFill>
          <a:ln w="25400">
            <a:solidFill>
              <a:srgbClr val="B38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0" y="301752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B388FF"/>
                </a:solidFill>
                <a:latin typeface="Malgun Gothic"/>
              </a:defRPr>
            </a:pPr>
            <a:r>
              <a:t>소형 UAV 탐지 한계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3520440"/>
            <a:ext cx="28346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8E8"/>
                </a:solidFill>
                <a:latin typeface="Malgun Gothic"/>
              </a:defRPr>
            </a:pPr>
            <a:r>
              <a:t>저고도 소형 UAV는 낮은 RCS로</a:t>
            </a:r>
            <a:br/>
            <a:r>
              <a:t>기존 항공 레이더의</a:t>
            </a:r>
            <a:br/>
            <a:r>
              <a:t>탐지 임계값 미달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3035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FFCC"/>
                </a:solidFill>
                <a:latin typeface="Consolas"/>
              </a:defRPr>
            </a:pPr>
            <a:r>
              <a:t>90만+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8064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8B8"/>
                </a:solidFill>
                <a:latin typeface="Malgun Gothic"/>
              </a:defRPr>
            </a:pPr>
            <a:r>
              <a:t>국내 등록 무인비행장치 (2025)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53035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E676"/>
                </a:solidFill>
                <a:latin typeface="Consolas"/>
              </a:defRPr>
            </a:pPr>
            <a:r>
              <a:t>+30%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31920" y="58064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8B8"/>
                </a:solidFill>
                <a:latin typeface="Malgun Gothic"/>
              </a:defRPr>
            </a:pPr>
            <a:r>
              <a:t>산업용 드론 비행 연간 증가율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0" y="53035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9800"/>
                </a:solidFill>
                <a:latin typeface="Consolas"/>
              </a:defRPr>
            </a:pPr>
            <a:r>
              <a:t>67%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0" y="58064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8B8"/>
                </a:solidFill>
                <a:latin typeface="Malgun Gothic"/>
              </a:defRPr>
            </a:pPr>
            <a:r>
              <a:t>도심 저고도 관제 사각지대 비율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603504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A0A8B8"/>
                </a:solidFill>
                <a:latin typeface="Malgun Gothic"/>
              </a:defRPr>
            </a:pPr>
            <a:r>
              <a:t>※ 국토교통부 「무인비행장치 등록 현황」 2025  |  ※ KARI 「산업용 무인기 시장 동향」 2024  |  ※ KOTI 「저고도 공역 관제 사각지대 실태 조사」 2024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3093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B894"/>
                </a:solidFill>
                <a:latin typeface="Consolas"/>
              </a:defRPr>
            </a:pPr>
            <a:r>
              <a:t>SWARM-NET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0" y="63093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A0A8B8"/>
                </a:solidFill>
                <a:latin typeface="Consolas"/>
              </a:defRPr>
            </a:pPr>
            <a:r>
              <a:t>02 / 08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>
  <p:cSld>
    <p:bg>
      <p:bgPr>
        <a:solidFill>
          <a:srgbClr val="0B101F"/>
        </a:solidFill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548640"/>
            <a:ext cx="2194560" cy="311150"/>
          </a:xfrm>
          <a:prstGeom prst="roundRect">
            <a:avLst/>
          </a:prstGeom>
          <a:solidFill>
            <a:srgbClr val="00FF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0B101F"/>
                </a:solidFill>
                <a:latin typeface="Consolas"/>
              </a:defRPr>
            </a:pPr>
            <a:r>
              <a:t>OUR SOLUTION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731520" cy="38100"/>
          </a:xfrm>
          <a:prstGeom prst="rect">
            <a:avLst/>
          </a:prstGeom>
          <a:solidFill>
            <a:srgbClr val="00FF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Malgun Gothic"/>
              </a:defRPr>
            </a:pPr>
            <a:r>
              <a:t>드론이 직접</a:t>
            </a:r>
            <a:br/>
            <a:r>
              <a:t>하늘의 관제탑이 되다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4688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0A8B8"/>
                </a:solidFill>
                <a:latin typeface="Malgun Gothic"/>
              </a:defRPr>
            </a:pPr>
            <a:r>
              <a:t>다수의 통제용 군집 UAV를 공중에 직접 배치하여</a:t>
            </a:r>
            <a:br/>
            <a:r>
              <a:t>실시간 메시 통신망을 형성하는 '이동식 관제탑(Mobile ATC)' 아키텍처</a:t>
            </a:r>
          </a:p>
        </p:txBody>
      </p:sp>
      <p:pic>
        <p:nvPicPr>
          <p:cNvPr id="6" name="Picture 5" descr="C:/Users/sun47/AppData/Roaming/PolarisOffice/ETemp/45692_23558248/image3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0">
            <a:off x="7856855" y="285750"/>
            <a:ext cx="3658235" cy="2605405"/>
          </a:xfrm>
          <a:prstGeom prst="rect"/>
          <a:noFill/>
        </p:spPr>
      </p:pic>
      <p:sp>
        <p:nvSpPr>
          <p:cNvPr id="7" name="Rounded Rectangle 6"/>
          <p:cNvSpPr/>
          <p:nvPr/>
        </p:nvSpPr>
        <p:spPr>
          <a:xfrm>
            <a:off x="731520" y="3383280"/>
            <a:ext cx="3383280" cy="2194560"/>
          </a:xfrm>
          <a:prstGeom prst="roundRect">
            <a:avLst/>
          </a:prstGeom>
          <a:solidFill>
            <a:srgbClr val="121A2E"/>
          </a:solidFill>
          <a:ln w="25400">
            <a:solidFill>
              <a:srgbClr val="00F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920240" y="3657600"/>
            <a:ext cx="914400" cy="914400"/>
          </a:xfrm>
          <a:prstGeom prst="ellipse">
            <a:avLst/>
          </a:prstGeom>
          <a:noFill/>
          <a:ln w="25400">
            <a:solidFill>
              <a:srgbClr val="00F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66344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onsolas"/>
              </a:defRPr>
            </a:pPr>
            <a:r>
              <a:t>Swarm Fleet</a:t>
            </a:r>
          </a:p>
        </p:txBody>
      </p:sp>
      <p:sp>
        <p:nvSpPr>
          <p:cNvPr id="10" name="TextBox 9"/>
          <p:cNvSpPr txBox="1">
            <a:spLocks/>
          </p:cNvSpPr>
          <p:nvPr/>
        </p:nvSpPr>
        <p:spPr>
          <a:xfrm rot="0">
            <a:off x="1005840" y="4997450"/>
            <a:ext cx="2835275" cy="823595"/>
          </a:xfrm>
          <a:prstGeom prst="rect"/>
          <a:noFill/>
        </p:spPr>
        <p:txBody>
          <a:bodyPr wrap="square" lIns="91440" tIns="45720" rIns="91440" bIns="45720" numCol="1" vert="horz" anchor="t">
            <a:spAutoFit/>
          </a:bodyPr>
          <a:lstStyle/>
          <a:p>
            <a:pPr marL="0" indent="0" algn="ctr">
              <a:buFontTx/>
              <a:buNone/>
              <a:defRPr sz="1200" b="0">
                <a:solidFill>
                  <a:srgbClr val="A0A8B8"/>
                </a:solidFill>
                <a:latin typeface="Malgun Gothic" charset="0"/>
              </a:defRPr>
            </a:pPr>
            <a:r>
              <a:rPr/>
              <a:t>6~12대 UAV가 정다각형 대형을</a:t>
            </a:r>
            <a:r>
              <a:rPr/>
              <a:t/>
            </a:r>
            <a:br>
              <a:rPr/>
            </a:br>
            <a:r>
              <a:rPr/>
              <a:t>자율 형성, 3D 다층 레이더 돔 전개</a:t>
            </a:r>
            <a:endParaRPr lang="ko-KR" altLang="en-US"/>
          </a:p>
        </p:txBody>
      </p:sp>
      <p:sp>
        <p:nvSpPr>
          <p:cNvPr id="11" name="Rounded Rectangle 10"/>
          <p:cNvSpPr/>
          <p:nvPr/>
        </p:nvSpPr>
        <p:spPr>
          <a:xfrm>
            <a:off x="4480560" y="3383280"/>
            <a:ext cx="3383280" cy="2194560"/>
          </a:xfrm>
          <a:prstGeom prst="roundRect">
            <a:avLst/>
          </a:prstGeom>
          <a:solidFill>
            <a:srgbClr val="121A2E"/>
          </a:solidFill>
          <a:ln w="2540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669280" y="3657600"/>
            <a:ext cx="914400" cy="914400"/>
          </a:xfrm>
          <a:prstGeom prst="ellipse">
            <a:avLst/>
          </a:prstGeom>
          <a:noFill/>
          <a:ln w="2540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80" y="466344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onsolas"/>
              </a:defRPr>
            </a:pPr>
            <a:r>
              <a:t>Mesh Radar</a:t>
            </a:r>
          </a:p>
        </p:txBody>
      </p:sp>
      <p:sp>
        <p:nvSpPr>
          <p:cNvPr id="14" name="TextBox 13"/>
          <p:cNvSpPr txBox="1">
            <a:spLocks/>
          </p:cNvSpPr>
          <p:nvPr/>
        </p:nvSpPr>
        <p:spPr>
          <a:xfrm rot="0">
            <a:off x="4754880" y="4921250"/>
            <a:ext cx="2835275" cy="823595"/>
          </a:xfrm>
          <a:prstGeom prst="rect"/>
          <a:noFill/>
        </p:spPr>
        <p:txBody>
          <a:bodyPr wrap="square" lIns="91440" tIns="45720" rIns="91440" bIns="45720" numCol="1" vert="horz" anchor="t">
            <a:spAutoFit/>
          </a:bodyPr>
          <a:lstStyle/>
          <a:p>
            <a:pPr marL="0" indent="0" algn="ctr">
              <a:buFontTx/>
              <a:buNone/>
              <a:defRPr sz="1200" b="0">
                <a:solidFill>
                  <a:srgbClr val="A0A8B8"/>
                </a:solidFill>
                <a:latin typeface="Malgun Gothic" charset="0"/>
              </a:defRPr>
            </a:pPr>
            <a:r>
              <a:rPr/>
              <a:t>LiDAR + RF 기반 Mesh Network,</a:t>
            </a:r>
            <a:r>
              <a:rPr/>
              <a:t/>
            </a:r>
            <a:br>
              <a:rPr/>
            </a:br>
            <a:r>
              <a:rPr/>
              <a:t>삼각측량(Trilateration)으로</a:t>
            </a:r>
            <a:r>
              <a:rPr/>
              <a:t/>
            </a:r>
            <a:br>
              <a:rPr/>
            </a:br>
            <a:r>
              <a:rPr/>
              <a:t>진입 객체 3D 좌표 산출</a:t>
            </a:r>
            <a:endParaRPr lang="ko-KR" altLang="en-US"/>
          </a:p>
        </p:txBody>
      </p:sp>
      <p:sp>
        <p:nvSpPr>
          <p:cNvPr id="15" name="Rounded Rectangle 14"/>
          <p:cNvSpPr/>
          <p:nvPr/>
        </p:nvSpPr>
        <p:spPr>
          <a:xfrm>
            <a:off x="8229600" y="3383280"/>
            <a:ext cx="3383280" cy="2194560"/>
          </a:xfrm>
          <a:prstGeom prst="roundRect">
            <a:avLst/>
          </a:prstGeom>
          <a:solidFill>
            <a:srgbClr val="121A2E"/>
          </a:solidFill>
          <a:ln w="25400"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418320" y="3657600"/>
            <a:ext cx="914400" cy="914400"/>
          </a:xfrm>
          <a:prstGeom prst="ellipse">
            <a:avLst/>
          </a:prstGeom>
          <a:noFill/>
          <a:ln w="25400"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03920" y="466344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onsolas"/>
              </a:defRPr>
            </a:pPr>
            <a:r>
              <a:t>Timer Control</a:t>
            </a:r>
          </a:p>
        </p:txBody>
      </p:sp>
      <p:sp>
        <p:nvSpPr>
          <p:cNvPr id="18" name="TextBox 17"/>
          <p:cNvSpPr txBox="1">
            <a:spLocks/>
          </p:cNvSpPr>
          <p:nvPr/>
        </p:nvSpPr>
        <p:spPr>
          <a:xfrm rot="0">
            <a:off x="8532495" y="4921250"/>
            <a:ext cx="2835275" cy="823595"/>
          </a:xfrm>
          <a:prstGeom prst="rect"/>
          <a:noFill/>
        </p:spPr>
        <p:txBody>
          <a:bodyPr wrap="square" lIns="91440" tIns="45720" rIns="91440" bIns="45720" numCol="1" vert="horz" anchor="t">
            <a:spAutoFit/>
          </a:bodyPr>
          <a:lstStyle/>
          <a:p>
            <a:pPr marL="0" indent="0" algn="ctr">
              <a:buFontTx/>
              <a:buNone/>
              <a:defRPr sz="1200" b="0">
                <a:solidFill>
                  <a:srgbClr val="A0A8B8"/>
                </a:solidFill>
                <a:latin typeface="Malgun Gothic" charset="0"/>
              </a:defRPr>
            </a:pPr>
            <a:r>
              <a:rPr/>
              <a:t>비인가 UAV에 체공 시간 자동 할당</a:t>
            </a:r>
            <a:r>
              <a:rPr/>
              <a:t/>
            </a:r>
            <a:br>
              <a:rPr/>
            </a:br>
            <a:r>
              <a:rPr/>
              <a:t>만료 시 RTH 명령 및</a:t>
            </a:r>
            <a:r>
              <a:rPr/>
              <a:t/>
            </a:r>
            <a:br>
              <a:rPr/>
            </a:br>
            <a:r>
              <a:rPr/>
              <a:t>에스코트 프로토콜 가동</a:t>
            </a:r>
            <a:endParaRPr lang="ko-KR" altLang="en-US"/>
          </a:p>
        </p:txBody>
      </p:sp>
      <p:sp>
        <p:nvSpPr>
          <p:cNvPr id="19" name="TextBox 18"/>
          <p:cNvSpPr txBox="1"/>
          <p:nvPr/>
        </p:nvSpPr>
        <p:spPr>
          <a:xfrm>
            <a:off x="365760" y="63093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B894"/>
                </a:solidFill>
                <a:latin typeface="Consolas"/>
              </a:defRPr>
            </a:pPr>
            <a:r>
              <a:t>SWARM-NET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0" y="63093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A0A8B8"/>
                </a:solidFill>
                <a:latin typeface="Consolas"/>
              </a:defRPr>
            </a:pPr>
            <a:r>
              <a:t>03 / 08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457200"/>
            <a:ext cx="2194560" cy="310896"/>
          </a:xfrm>
          <a:prstGeom prst="roundRect">
            <a:avLst/>
          </a:prstGeom>
          <a:solidFill>
            <a:srgbClr val="B38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0B101F"/>
                </a:solidFill>
                <a:latin typeface="Consolas"/>
              </a:defRPr>
            </a:pPr>
            <a:r>
              <a:t>CORE TECHNOLOGY — SIM-TO-REAL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14400"/>
            <a:ext cx="731520" cy="38100"/>
          </a:xfrm>
          <a:prstGeom prst="rect">
            <a:avLst/>
          </a:prstGeom>
          <a:solidFill>
            <a:srgbClr val="00FF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Malgun Gothic"/>
              </a:defRPr>
            </a:pPr>
            <a:r>
              <a:t>가상의 강화학습 알고리즘을</a:t>
            </a:r>
            <a:br/>
            <a:r>
              <a:t>현실의 드론 관제로 이식하다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286000"/>
            <a:ext cx="4389120" cy="1645920"/>
          </a:xfrm>
          <a:prstGeom prst="roundRect">
            <a:avLst/>
          </a:prstGeom>
          <a:solidFill>
            <a:srgbClr val="121A2E"/>
          </a:solidFill>
          <a:ln w="25400">
            <a:solidFill>
              <a:srgbClr val="B38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B388FF"/>
                </a:solidFill>
                <a:latin typeface="Consolas"/>
              </a:defRPr>
            </a:pPr>
            <a:r>
              <a:t>STARCRAFT 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74320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8E8"/>
                </a:solidFill>
                <a:latin typeface="Consolas"/>
              </a:defRPr>
            </a:pPr>
            <a:r>
              <a:t>Boids + FSM + RL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20040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0A8B8"/>
                </a:solidFill>
                <a:latin typeface="Malgun Gothic"/>
              </a:defRPr>
            </a:pPr>
            <a:r>
              <a:t>10,000+ 게임 검증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0" y="26517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FFCC"/>
                </a:solidFill>
                <a:latin typeface="Consolas"/>
              </a:defRPr>
            </a:pPr>
            <a:r>
              <a:t>Sim -&gt; Real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0" y="3017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A8B8"/>
                </a:solidFill>
                <a:latin typeface="Malgun Gothic"/>
              </a:defRPr>
            </a:pPr>
            <a:r>
              <a:t>+ Altitude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0" y="2286000"/>
            <a:ext cx="4389120" cy="1645920"/>
          </a:xfrm>
          <a:prstGeom prst="roundRect">
            <a:avLst/>
          </a:prstGeom>
          <a:solidFill>
            <a:srgbClr val="121A2E"/>
          </a:solidFill>
          <a:ln w="25400">
            <a:solidFill>
              <a:srgbClr val="00F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377440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FFCC"/>
                </a:solidFill>
                <a:latin typeface="Consolas"/>
              </a:defRPr>
            </a:pPr>
            <a:r>
              <a:t>DRONE ATC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274320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8E8"/>
                </a:solidFill>
                <a:latin typeface="Consolas"/>
              </a:defRPr>
            </a:pPr>
            <a:r>
              <a:t>Formation + Timer + Alert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320040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0A8B8"/>
                </a:solidFill>
                <a:latin typeface="Malgun Gothic"/>
              </a:defRPr>
            </a:pPr>
            <a:r>
              <a:t>3D Mesh Radar Network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548640" y="4114800"/>
          <a:ext cx="10515600" cy="2084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4114800"/>
                <a:gridCol w="2743200"/>
              </a:tblGrid>
              <a:tr h="347472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B388FF"/>
                          </a:solidFill>
                          <a:latin typeface="Malgun Gothic"/>
                        </a:defRPr>
                      </a:pPr>
                      <a:r>
                        <a:t>SC2 Component</a:t>
                      </a:r>
                    </a:p>
                  </a:txBody>
                  <a:tcPr anchor="ctr" marL="109728" marR="73152" marT="45720" marB="45720">
                    <a:solidFill>
                      <a:srgbClr val="151E3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0FFCC"/>
                          </a:solidFill>
                          <a:latin typeface="Malgun Gothic"/>
                        </a:defRPr>
                      </a:pPr>
                      <a:r>
                        <a:t>Drone ATC Mapping</a:t>
                      </a:r>
                    </a:p>
                  </a:txBody>
                  <a:tcPr anchor="ctr" marL="109728" marR="73152" marT="45720" marB="45720">
                    <a:solidFill>
                      <a:srgbClr val="151E3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D700"/>
                          </a:solidFill>
                          <a:latin typeface="Malgun Gothic"/>
                        </a:defRPr>
                      </a:pPr>
                      <a:r>
                        <a:t>전이 방법론</a:t>
                      </a:r>
                    </a:p>
                  </a:txBody>
                  <a:tcPr anchor="ctr" marL="109728" marR="73152" marT="45720" marB="45720">
                    <a:solidFill>
                      <a:srgbClr val="151E3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8E8E8"/>
                          </a:solidFill>
                          <a:latin typeface="Malgun Gothic"/>
                        </a:defRPr>
                      </a:pPr>
                      <a:r>
                        <a:t>Boids Algorithm (군집 이동)</a:t>
                      </a:r>
                    </a:p>
                  </a:txBody>
                  <a:tcPr anchor="ctr" marL="109728" marR="73152" marT="45720" marB="45720">
                    <a:solidFill>
                      <a:srgbClr val="12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8E8E8"/>
                          </a:solidFill>
                          <a:latin typeface="Malgun Gothic"/>
                        </a:defRPr>
                      </a:pPr>
                      <a:r>
                        <a:t>Formation Flight Control</a:t>
                      </a:r>
                    </a:p>
                  </a:txBody>
                  <a:tcPr anchor="ctr" marL="109728" marR="73152" marT="45720" marB="45720">
                    <a:solidFill>
                      <a:srgbClr val="12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E676"/>
                          </a:solidFill>
                          <a:latin typeface="Malgun Gothic"/>
                        </a:defRPr>
                      </a:pPr>
                      <a:r>
                        <a:t>1:1 구조 매핑</a:t>
                      </a:r>
                    </a:p>
                  </a:txBody>
                  <a:tcPr anchor="ctr" marL="109728" marR="73152" marT="45720" marB="45720">
                    <a:solidFill>
                      <a:srgbClr val="121A2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8E8E8"/>
                          </a:solidFill>
                          <a:latin typeface="Malgun Gothic"/>
                        </a:defRPr>
                      </a:pPr>
                      <a:r>
                        <a:t>Blackboard (중앙 상태 관리)</a:t>
                      </a:r>
                    </a:p>
                  </a:txBody>
                  <a:tcPr anchor="ctr" marL="109728" marR="73152" marT="45720" marB="45720">
                    <a:solidFill>
                      <a:srgbClr val="12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8E8E8"/>
                          </a:solidFill>
                          <a:latin typeface="Malgun Gothic"/>
                        </a:defRPr>
                      </a:pPr>
                      <a:r>
                        <a:t>Flight Data Hub</a:t>
                      </a:r>
                    </a:p>
                  </a:txBody>
                  <a:tcPr anchor="ctr" marL="109728" marR="73152" marT="45720" marB="45720">
                    <a:solidFill>
                      <a:srgbClr val="12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E676"/>
                          </a:solidFill>
                          <a:latin typeface="Malgun Gothic"/>
                        </a:defRPr>
                      </a:pPr>
                      <a:r>
                        <a:t>1:1 구조 매핑</a:t>
                      </a:r>
                    </a:p>
                  </a:txBody>
                  <a:tcPr anchor="ctr" marL="109728" marR="73152" marT="45720" marB="45720">
                    <a:solidFill>
                      <a:srgbClr val="121A2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8E8E8"/>
                          </a:solidFill>
                          <a:latin typeface="Malgun Gothic"/>
                        </a:defRPr>
                      </a:pPr>
                      <a:r>
                        <a:t>Authority Mode (우선순위 체계)</a:t>
                      </a:r>
                    </a:p>
                  </a:txBody>
                  <a:tcPr anchor="ctr" marL="109728" marR="73152" marT="45720" marB="45720">
                    <a:solidFill>
                      <a:srgbClr val="12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8E8E8"/>
                          </a:solidFill>
                          <a:latin typeface="Malgun Gothic"/>
                        </a:defRPr>
                      </a:pPr>
                      <a:r>
                        <a:t>ATC Priority Levels</a:t>
                      </a:r>
                    </a:p>
                  </a:txBody>
                  <a:tcPr anchor="ctr" marL="109728" marR="73152" marT="45720" marB="45720">
                    <a:solidFill>
                      <a:srgbClr val="12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E676"/>
                          </a:solidFill>
                          <a:latin typeface="Malgun Gothic"/>
                        </a:defRPr>
                      </a:pPr>
                      <a:r>
                        <a:t>1:1 구조 매핑</a:t>
                      </a:r>
                    </a:p>
                  </a:txBody>
                  <a:tcPr anchor="ctr" marL="109728" marR="73152" marT="45720" marB="45720">
                    <a:solidFill>
                      <a:srgbClr val="121A2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8E8E8"/>
                          </a:solidFill>
                          <a:latin typeface="Malgun Gothic"/>
                        </a:defRPr>
                      </a:pPr>
                      <a:r>
                        <a:t>IntelManager (정보 수집/탐지)</a:t>
                      </a:r>
                    </a:p>
                  </a:txBody>
                  <a:tcPr anchor="ctr" marL="109728" marR="73152" marT="45720" marB="45720">
                    <a:solidFill>
                      <a:srgbClr val="12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8E8E8"/>
                          </a:solidFill>
                          <a:latin typeface="Malgun Gothic"/>
                        </a:defRPr>
                      </a:pPr>
                      <a:r>
                        <a:t>3D Radar Mesh (Sensor Fusion)</a:t>
                      </a:r>
                    </a:p>
                  </a:txBody>
                  <a:tcPr anchor="ctr" marL="109728" marR="73152" marT="45720" marB="45720">
                    <a:solidFill>
                      <a:srgbClr val="12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9800"/>
                          </a:solidFill>
                          <a:latin typeface="Malgun Gothic"/>
                        </a:defRPr>
                      </a:pPr>
                      <a:r>
                        <a:t>적응형 파라미터 튜닝</a:t>
                      </a:r>
                    </a:p>
                  </a:txBody>
                  <a:tcPr anchor="ctr" marL="109728" marR="73152" marT="45720" marB="45720">
                    <a:solidFill>
                      <a:srgbClr val="121A2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8E8E8"/>
                          </a:solidFill>
                          <a:latin typeface="Malgun Gothic"/>
                        </a:defRPr>
                      </a:pPr>
                      <a:r>
                        <a:t>RL Agent (강화학습 의사결정)</a:t>
                      </a:r>
                    </a:p>
                  </a:txBody>
                  <a:tcPr anchor="ctr" marL="109728" marR="73152" marT="45720" marB="45720">
                    <a:solidFill>
                      <a:srgbClr val="12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8E8E8"/>
                          </a:solidFill>
                          <a:latin typeface="Malgun Gothic"/>
                        </a:defRPr>
                      </a:pPr>
                      <a:r>
                        <a:t>Adaptive Path Optimization</a:t>
                      </a:r>
                    </a:p>
                  </a:txBody>
                  <a:tcPr anchor="ctr" marL="109728" marR="73152" marT="45720" marB="45720">
                    <a:solidFill>
                      <a:srgbClr val="12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9800"/>
                          </a:solidFill>
                          <a:latin typeface="Malgun Gothic"/>
                        </a:defRPr>
                      </a:pPr>
                      <a:r>
                        <a:t>적응형 파라미터 튜닝</a:t>
                      </a:r>
                    </a:p>
                  </a:txBody>
                  <a:tcPr anchor="ctr" marL="109728" marR="73152" marT="45720" marB="45720">
                    <a:solidFill>
                      <a:srgbClr val="121A2E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365760" y="63093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B894"/>
                </a:solidFill>
                <a:latin typeface="Consolas"/>
              </a:defRPr>
            </a:pPr>
            <a:r>
              <a:t>SWARM-NET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0" y="63093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A0A8B8"/>
                </a:solidFill>
                <a:latin typeface="Consolas"/>
              </a:defRPr>
            </a:pPr>
            <a:r>
              <a:t>04 / 08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>
  <p:cSld>
    <p:bg>
      <p:bgPr>
        <a:solidFill>
          <a:srgbClr val="0B101F"/>
        </a:solidFill>
      </p:bgPr>
    </p:bg>
    <p:spTree>
      <p:nvGrpSpPr>
        <p:cNvPr id="1" name=""/>
        <p:cNvGrpSpPr/>
        <p:nvPr/>
      </p:nvGrpSpPr>
      <p:grpSpPr/>
      <p:pic>
        <p:nvPicPr>
          <p:cNvPr id="2" name="Picture 1" descr="C:/Users/sun47/AppData/Roaming/PolarisOffice/ETemp/45692_23558248/image4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0">
            <a:off x="9360535" y="28575"/>
            <a:ext cx="2781935" cy="2936875"/>
          </a:xfrm>
          <a:prstGeom prst="rect"/>
          <a:noFill/>
        </p:spPr>
      </p:pic>
      <p:sp>
        <p:nvSpPr>
          <p:cNvPr id="3" name="Rounded Rectangle 2"/>
          <p:cNvSpPr/>
          <p:nvPr/>
        </p:nvSpPr>
        <p:spPr>
          <a:xfrm>
            <a:off x="731520" y="548640"/>
            <a:ext cx="2194560" cy="311150"/>
          </a:xfrm>
          <a:prstGeom prst="roundRect">
            <a:avLst/>
          </a:prstGeom>
          <a:solidFill>
            <a:srgbClr val="00E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0B101F"/>
                </a:solidFill>
                <a:latin typeface="Consolas"/>
              </a:defRPr>
            </a:pPr>
            <a:r>
              <a:t>3D LIVE SIMULATION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05840"/>
            <a:ext cx="731520" cy="38100"/>
          </a:xfrm>
          <a:prstGeom prst="rect">
            <a:avLst/>
          </a:prstGeom>
          <a:solidFill>
            <a:srgbClr val="00FF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>
            <a:spLocks/>
          </p:cNvSpPr>
          <p:nvPr/>
        </p:nvSpPr>
        <p:spPr>
          <a:xfrm rot="0">
            <a:off x="731520" y="1188720"/>
            <a:ext cx="9144635" cy="915035"/>
          </a:xfrm>
          <a:prstGeom prst="rect"/>
          <a:noFill/>
        </p:spPr>
        <p:txBody>
          <a:bodyPr wrap="square" lIns="91440" tIns="45720" rIns="91440" bIns="45720" numCol="1" vert="horz" anchor="t">
            <a:spAutoFit/>
          </a:bodyPr>
          <a:lstStyle/>
          <a:p>
            <a:pPr marL="0" indent="0" algn="l">
              <a:buFontTx/>
              <a:buNone/>
              <a:defRPr sz="3200" b="1">
                <a:solidFill>
                  <a:srgbClr val="FFFFFF"/>
                </a:solidFill>
                <a:latin typeface="Malgun Gothic" charset="0"/>
              </a:defRPr>
            </a:pPr>
            <a:r>
              <a:rPr/>
              <a:t>사각지대 없는 3D 입체 스캔</a:t>
            </a:r>
            <a:r>
              <a:rPr/>
              <a:t/>
            </a:r>
            <a:br>
              <a:rPr/>
            </a:br>
            <a:r>
              <a:rPr/>
              <a:t>및 실시간 좌표 추적</a:t>
            </a:r>
            <a:endParaRPr lang="ko-KR" altLang="en-US"/>
          </a:p>
        </p:txBody>
      </p:sp>
      <p:sp>
        <p:nvSpPr>
          <p:cNvPr id="6" name="Rounded Rectangle 5"/>
          <p:cNvSpPr>
            <a:spLocks/>
          </p:cNvSpPr>
          <p:nvPr/>
        </p:nvSpPr>
        <p:spPr>
          <a:xfrm rot="0">
            <a:off x="457200" y="2560320"/>
            <a:ext cx="2560955" cy="1829435"/>
          </a:xfrm>
          <a:prstGeom prst="roundRect"/>
          <a:solidFill>
            <a:srgbClr val="121A2E"/>
          </a:solidFill>
          <a:ln w="25400" cap="flat" cmpd="sng">
            <a:solidFill>
              <a:srgbClr val="00FFCC">
                <a:alpha val="100000"/>
              </a:srgbClr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>
              <a:buFontTx/>
              <a:buNone/>
            </a:pPr>
            <a:endParaRPr lang="ko-KR" altLang="en-US" sz="1800">
              <a:solidFill>
                <a:schemeClr val="tx1"/>
              </a:solidFill>
              <a:latin typeface="Calibri" charset="0"/>
              <a:ea typeface="+mn-ea"/>
              <a:cs typeface="+mn-cs"/>
            </a:endParaRPr>
          </a:p>
        </p:txBody>
      </p:sp>
      <p:sp>
        <p:nvSpPr>
          <p:cNvPr id="7" name="TextBox 6"/>
          <p:cNvSpPr txBox="1">
            <a:spLocks/>
          </p:cNvSpPr>
          <p:nvPr/>
        </p:nvSpPr>
        <p:spPr>
          <a:xfrm rot="0">
            <a:off x="640080" y="2743200"/>
            <a:ext cx="2195195" cy="274955"/>
          </a:xfrm>
          <a:prstGeom prst="rect"/>
          <a:noFill/>
        </p:spPr>
        <p:txBody>
          <a:bodyPr wrap="square" lIns="91440" tIns="45720" rIns="91440" bIns="45720" numCol="1" vert="horz" anchor="t">
            <a:spAutoFit/>
          </a:bodyPr>
          <a:lstStyle/>
          <a:p>
            <a:pPr marL="0" indent="0" algn="l">
              <a:buFontTx/>
              <a:buNone/>
              <a:defRPr sz="1000" b="1">
                <a:solidFill>
                  <a:srgbClr val="00FFCC"/>
                </a:solidFill>
                <a:latin typeface="Consolas" charset="0"/>
              </a:defRPr>
            </a:pPr>
            <a:r>
              <a:rPr/>
              <a:t>PHASE 01</a:t>
            </a:r>
            <a:endParaRPr lang="ko-KR" altLang="en-US"/>
          </a:p>
        </p:txBody>
      </p:sp>
      <p:sp>
        <p:nvSpPr>
          <p:cNvPr id="8" name="TextBox 7"/>
          <p:cNvSpPr txBox="1">
            <a:spLocks/>
          </p:cNvSpPr>
          <p:nvPr/>
        </p:nvSpPr>
        <p:spPr>
          <a:xfrm rot="0">
            <a:off x="640080" y="3063240"/>
            <a:ext cx="2195195" cy="366395"/>
          </a:xfrm>
          <a:prstGeom prst="rect"/>
          <a:noFill/>
        </p:spPr>
        <p:txBody>
          <a:bodyPr wrap="square" lIns="91440" tIns="45720" rIns="91440" bIns="45720" numCol="1" vert="horz" anchor="t">
            <a:spAutoFit/>
          </a:bodyPr>
          <a:lstStyle/>
          <a:p>
            <a:pPr marL="0" indent="0" algn="l">
              <a:buFontTx/>
              <a:buNone/>
              <a:defRPr sz="1800" b="1">
                <a:solidFill>
                  <a:srgbClr val="FFFFFF"/>
                </a:solidFill>
                <a:latin typeface="Malgun Gothic" charset="0"/>
              </a:defRPr>
            </a:pPr>
            <a:r>
              <a:rPr/>
              <a:t>Mesh 형성</a:t>
            </a:r>
            <a:endParaRPr lang="ko-KR" altLang="en-US"/>
          </a:p>
        </p:txBody>
      </p:sp>
      <p:sp>
        <p:nvSpPr>
          <p:cNvPr id="9" name="TextBox 8"/>
          <p:cNvSpPr txBox="1">
            <a:spLocks/>
          </p:cNvSpPr>
          <p:nvPr/>
        </p:nvSpPr>
        <p:spPr>
          <a:xfrm rot="0">
            <a:off x="640080" y="3520440"/>
            <a:ext cx="2195195" cy="732155"/>
          </a:xfrm>
          <a:prstGeom prst="rect"/>
          <a:noFill/>
        </p:spPr>
        <p:txBody>
          <a:bodyPr wrap="square" lIns="91440" tIns="45720" rIns="91440" bIns="45720" numCol="1" vert="horz" anchor="t">
            <a:spAutoFit/>
          </a:bodyPr>
          <a:lstStyle/>
          <a:p>
            <a:pPr marL="0" indent="0" algn="l">
              <a:buFontTx/>
              <a:buNone/>
              <a:defRPr sz="1200" b="0">
                <a:solidFill>
                  <a:srgbClr val="A0A8B8"/>
                </a:solidFill>
                <a:latin typeface="Malgun Gothic" charset="0"/>
              </a:defRPr>
            </a:pPr>
            <a:r>
              <a:rPr/>
              <a:t>6대 드론이 육각형 대형으로</a:t>
            </a:r>
            <a:r>
              <a:rPr/>
              <a:t/>
            </a:r>
            <a:br>
              <a:rPr/>
            </a:br>
            <a:r>
              <a:rPr/>
              <a:t>레이더 돔 전개</a:t>
            </a:r>
            <a:endParaRPr lang="ko-KR" altLang="en-US"/>
          </a:p>
        </p:txBody>
      </p:sp>
      <p:sp>
        <p:nvSpPr>
          <p:cNvPr id="10" name="TextBox 9"/>
          <p:cNvSpPr txBox="1">
            <a:spLocks/>
          </p:cNvSpPr>
          <p:nvPr/>
        </p:nvSpPr>
        <p:spPr>
          <a:xfrm rot="0">
            <a:off x="2867025" y="3291840"/>
            <a:ext cx="516890" cy="368935"/>
          </a:xfrm>
          <a:prstGeom prst="rect"/>
          <a:noFill/>
        </p:spPr>
        <p:txBody>
          <a:bodyPr wrap="square" lIns="91440" tIns="45720" rIns="91440" bIns="45720" numCol="1" vert="horz" anchor="t">
            <a:spAutoFit/>
          </a:bodyPr>
          <a:lstStyle/>
          <a:p>
            <a:pPr marL="0" indent="0" algn="ctr">
              <a:buFontTx/>
              <a:buNone/>
              <a:defRPr sz="1800" b="1">
                <a:solidFill>
                  <a:srgbClr val="00FFCC"/>
                </a:solidFill>
                <a:latin typeface="Consolas" charset="0"/>
              </a:defRPr>
            </a:pPr>
            <a:r>
              <a:rPr/>
              <a:t>&gt;</a:t>
            </a:r>
            <a:endParaRPr lang="ko-KR" altLang="en-US"/>
          </a:p>
        </p:txBody>
      </p:sp>
      <p:sp>
        <p:nvSpPr>
          <p:cNvPr id="11" name="Rounded Rectangle 10"/>
          <p:cNvSpPr>
            <a:spLocks/>
          </p:cNvSpPr>
          <p:nvPr/>
        </p:nvSpPr>
        <p:spPr>
          <a:xfrm rot="0">
            <a:off x="3291840" y="2560320"/>
            <a:ext cx="2560955" cy="1829435"/>
          </a:xfrm>
          <a:prstGeom prst="roundRect"/>
          <a:solidFill>
            <a:srgbClr val="121A2E"/>
          </a:solidFill>
          <a:ln w="25400" cap="flat" cmpd="sng">
            <a:solidFill>
              <a:srgbClr val="00E676">
                <a:alpha val="100000"/>
              </a:srgbClr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>
              <a:buFontTx/>
              <a:buNone/>
            </a:pPr>
            <a:endParaRPr lang="ko-KR" altLang="en-US" sz="1800">
              <a:solidFill>
                <a:schemeClr val="tx1"/>
              </a:solidFill>
              <a:latin typeface="Calibri" charset="0"/>
              <a:ea typeface="+mn-ea"/>
              <a:cs typeface="+mn-cs"/>
            </a:endParaRPr>
          </a:p>
        </p:txBody>
      </p:sp>
      <p:sp>
        <p:nvSpPr>
          <p:cNvPr id="12" name="TextBox 11"/>
          <p:cNvSpPr txBox="1">
            <a:spLocks/>
          </p:cNvSpPr>
          <p:nvPr/>
        </p:nvSpPr>
        <p:spPr>
          <a:xfrm rot="0">
            <a:off x="3474720" y="2743200"/>
            <a:ext cx="2195195" cy="274955"/>
          </a:xfrm>
          <a:prstGeom prst="rect"/>
          <a:noFill/>
        </p:spPr>
        <p:txBody>
          <a:bodyPr wrap="square" lIns="91440" tIns="45720" rIns="91440" bIns="45720" numCol="1" vert="horz" anchor="t">
            <a:spAutoFit/>
          </a:bodyPr>
          <a:lstStyle/>
          <a:p>
            <a:pPr marL="0" indent="0" algn="l">
              <a:buFontTx/>
              <a:buNone/>
              <a:defRPr sz="1000" b="1">
                <a:solidFill>
                  <a:srgbClr val="00E676"/>
                </a:solidFill>
                <a:latin typeface="Consolas" charset="0"/>
              </a:defRPr>
            </a:pPr>
            <a:r>
              <a:rPr/>
              <a:t>PHASE 02</a:t>
            </a:r>
            <a:endParaRPr lang="ko-KR" altLang="en-US"/>
          </a:p>
        </p:txBody>
      </p:sp>
      <p:sp>
        <p:nvSpPr>
          <p:cNvPr id="13" name="TextBox 12"/>
          <p:cNvSpPr txBox="1">
            <a:spLocks/>
          </p:cNvSpPr>
          <p:nvPr/>
        </p:nvSpPr>
        <p:spPr>
          <a:xfrm rot="0">
            <a:off x="3474720" y="3063240"/>
            <a:ext cx="2195195" cy="366395"/>
          </a:xfrm>
          <a:prstGeom prst="rect"/>
          <a:noFill/>
        </p:spPr>
        <p:txBody>
          <a:bodyPr wrap="square" lIns="91440" tIns="45720" rIns="91440" bIns="45720" numCol="1" vert="horz" anchor="t">
            <a:spAutoFit/>
          </a:bodyPr>
          <a:lstStyle/>
          <a:p>
            <a:pPr marL="0" indent="0" algn="l">
              <a:buFontTx/>
              <a:buNone/>
              <a:defRPr sz="1800" b="1">
                <a:solidFill>
                  <a:srgbClr val="FFFFFF"/>
                </a:solidFill>
                <a:latin typeface="Malgun Gothic" charset="0"/>
              </a:defRPr>
            </a:pPr>
            <a:r>
              <a:rPr/>
              <a:t>탐지 &amp; 식별</a:t>
            </a:r>
            <a:endParaRPr lang="ko-KR" altLang="en-US"/>
          </a:p>
        </p:txBody>
      </p:sp>
      <p:sp>
        <p:nvSpPr>
          <p:cNvPr id="14" name="TextBox 13"/>
          <p:cNvSpPr txBox="1">
            <a:spLocks/>
          </p:cNvSpPr>
          <p:nvPr/>
        </p:nvSpPr>
        <p:spPr>
          <a:xfrm rot="0">
            <a:off x="3474720" y="3520440"/>
            <a:ext cx="2195195" cy="732155"/>
          </a:xfrm>
          <a:prstGeom prst="rect"/>
          <a:noFill/>
        </p:spPr>
        <p:txBody>
          <a:bodyPr wrap="square" lIns="91440" tIns="45720" rIns="91440" bIns="45720" numCol="1" vert="horz" anchor="t">
            <a:spAutoFit/>
          </a:bodyPr>
          <a:lstStyle/>
          <a:p>
            <a:pPr marL="0" indent="0" algn="l">
              <a:buFontTx/>
              <a:buNone/>
              <a:defRPr sz="1200" b="0">
                <a:solidFill>
                  <a:srgbClr val="A0A8B8"/>
                </a:solidFill>
                <a:latin typeface="Malgun Gothic" charset="0"/>
              </a:defRPr>
            </a:pPr>
            <a:r>
              <a:rPr/>
              <a:t>RF 스캔 -&gt; MAC 추출</a:t>
            </a:r>
            <a:r>
              <a:rPr/>
              <a:t/>
            </a:r>
            <a:br>
              <a:rPr/>
            </a:br>
            <a:r>
              <a:rPr/>
              <a:t>-&gt; DB 등록 -&gt; 허가 검증</a:t>
            </a:r>
            <a:endParaRPr lang="ko-KR" altLang="en-US"/>
          </a:p>
        </p:txBody>
      </p:sp>
      <p:sp>
        <p:nvSpPr>
          <p:cNvPr id="15" name="TextBox 14"/>
          <p:cNvSpPr txBox="1">
            <a:spLocks/>
          </p:cNvSpPr>
          <p:nvPr/>
        </p:nvSpPr>
        <p:spPr>
          <a:xfrm rot="0">
            <a:off x="5781675" y="3291840"/>
            <a:ext cx="436880" cy="368935"/>
          </a:xfrm>
          <a:prstGeom prst="rect"/>
          <a:noFill/>
        </p:spPr>
        <p:txBody>
          <a:bodyPr wrap="square" lIns="91440" tIns="45720" rIns="91440" bIns="45720" numCol="1" vert="horz" anchor="t">
            <a:spAutoFit/>
          </a:bodyPr>
          <a:lstStyle/>
          <a:p>
            <a:pPr marL="0" indent="0" algn="ctr">
              <a:buFontTx/>
              <a:buNone/>
              <a:defRPr sz="1800" b="1">
                <a:solidFill>
                  <a:srgbClr val="00E676"/>
                </a:solidFill>
                <a:latin typeface="Consolas" charset="0"/>
              </a:defRPr>
            </a:pPr>
            <a:r>
              <a:rPr/>
              <a:t>&gt;</a:t>
            </a:r>
            <a:endParaRPr lang="ko-KR" altLang="en-US"/>
          </a:p>
        </p:txBody>
      </p:sp>
      <p:sp>
        <p:nvSpPr>
          <p:cNvPr id="16" name="Rounded Rectangle 15"/>
          <p:cNvSpPr>
            <a:spLocks/>
          </p:cNvSpPr>
          <p:nvPr/>
        </p:nvSpPr>
        <p:spPr>
          <a:xfrm rot="0">
            <a:off x="6126480" y="2560320"/>
            <a:ext cx="2560955" cy="1829435"/>
          </a:xfrm>
          <a:prstGeom prst="roundRect"/>
          <a:solidFill>
            <a:srgbClr val="121A2E"/>
          </a:solidFill>
          <a:ln w="25400" cap="flat" cmpd="sng">
            <a:solidFill>
              <a:srgbClr val="FF9800">
                <a:alpha val="100000"/>
              </a:srgbClr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>
              <a:buFontTx/>
              <a:buNone/>
            </a:pPr>
            <a:endParaRPr lang="ko-KR" altLang="en-US" sz="1800">
              <a:solidFill>
                <a:schemeClr val="tx1"/>
              </a:solidFill>
              <a:latin typeface="Calibri" charset="0"/>
              <a:ea typeface="+mn-ea"/>
              <a:cs typeface="+mn-cs"/>
            </a:endParaRPr>
          </a:p>
        </p:txBody>
      </p:sp>
      <p:sp>
        <p:nvSpPr>
          <p:cNvPr id="17" name="TextBox 16"/>
          <p:cNvSpPr txBox="1">
            <a:spLocks/>
          </p:cNvSpPr>
          <p:nvPr/>
        </p:nvSpPr>
        <p:spPr>
          <a:xfrm rot="0">
            <a:off x="6309360" y="2743200"/>
            <a:ext cx="2195195" cy="274955"/>
          </a:xfrm>
          <a:prstGeom prst="rect"/>
          <a:noFill/>
        </p:spPr>
        <p:txBody>
          <a:bodyPr wrap="square" lIns="91440" tIns="45720" rIns="91440" bIns="45720" numCol="1" vert="horz" anchor="t">
            <a:spAutoFit/>
          </a:bodyPr>
          <a:lstStyle/>
          <a:p>
            <a:pPr marL="0" indent="0" algn="l">
              <a:buFontTx/>
              <a:buNone/>
              <a:defRPr sz="1000" b="1">
                <a:solidFill>
                  <a:srgbClr val="FF9800"/>
                </a:solidFill>
                <a:latin typeface="Consolas" charset="0"/>
              </a:defRPr>
            </a:pPr>
            <a:r>
              <a:rPr/>
              <a:t>PHASE 03</a:t>
            </a:r>
            <a:endParaRPr lang="ko-KR" altLang="en-US"/>
          </a:p>
        </p:txBody>
      </p:sp>
      <p:sp>
        <p:nvSpPr>
          <p:cNvPr id="18" name="TextBox 17"/>
          <p:cNvSpPr txBox="1">
            <a:spLocks/>
          </p:cNvSpPr>
          <p:nvPr/>
        </p:nvSpPr>
        <p:spPr>
          <a:xfrm rot="0">
            <a:off x="6309360" y="3063240"/>
            <a:ext cx="2195195" cy="366395"/>
          </a:xfrm>
          <a:prstGeom prst="rect"/>
          <a:noFill/>
        </p:spPr>
        <p:txBody>
          <a:bodyPr wrap="square" lIns="91440" tIns="45720" rIns="91440" bIns="45720" numCol="1" vert="horz" anchor="t">
            <a:spAutoFit/>
          </a:bodyPr>
          <a:lstStyle/>
          <a:p>
            <a:pPr marL="0" indent="0" algn="l">
              <a:buFontTx/>
              <a:buNone/>
              <a:defRPr sz="1800" b="1">
                <a:solidFill>
                  <a:srgbClr val="FFFFFF"/>
                </a:solidFill>
                <a:latin typeface="Malgun Gothic" charset="0"/>
              </a:defRPr>
            </a:pPr>
            <a:r>
              <a:rPr/>
              <a:t>타이머 &amp; 추적</a:t>
            </a:r>
            <a:endParaRPr lang="ko-KR" altLang="en-US"/>
          </a:p>
        </p:txBody>
      </p:sp>
      <p:sp>
        <p:nvSpPr>
          <p:cNvPr id="19" name="TextBox 18"/>
          <p:cNvSpPr txBox="1">
            <a:spLocks/>
          </p:cNvSpPr>
          <p:nvPr/>
        </p:nvSpPr>
        <p:spPr>
          <a:xfrm rot="0">
            <a:off x="6309360" y="3520440"/>
            <a:ext cx="2195195" cy="732155"/>
          </a:xfrm>
          <a:prstGeom prst="rect"/>
          <a:noFill/>
        </p:spPr>
        <p:txBody>
          <a:bodyPr wrap="square" lIns="91440" tIns="45720" rIns="91440" bIns="45720" numCol="1" vert="horz" anchor="t">
            <a:spAutoFit/>
          </a:bodyPr>
          <a:lstStyle/>
          <a:p>
            <a:pPr marL="0" indent="0" algn="l">
              <a:buFontTx/>
              <a:buNone/>
              <a:defRPr sz="1200" b="0">
                <a:solidFill>
                  <a:srgbClr val="A0A8B8"/>
                </a:solidFill>
                <a:latin typeface="Malgun Gothic" charset="0"/>
              </a:defRPr>
            </a:pPr>
            <a:r>
              <a:rPr/>
              <a:t>삼각측량으로 X,Y,Z</a:t>
            </a:r>
            <a:r>
              <a:rPr/>
              <a:t/>
            </a:r>
            <a:br>
              <a:rPr/>
            </a:br>
            <a:r>
              <a:rPr/>
              <a:t>실시간 위치 + 카운트다운</a:t>
            </a:r>
            <a:endParaRPr lang="ko-KR" altLang="en-US"/>
          </a:p>
        </p:txBody>
      </p:sp>
      <p:sp>
        <p:nvSpPr>
          <p:cNvPr id="20" name="TextBox 19"/>
          <p:cNvSpPr txBox="1">
            <a:spLocks/>
          </p:cNvSpPr>
          <p:nvPr/>
        </p:nvSpPr>
        <p:spPr>
          <a:xfrm rot="0">
            <a:off x="8629015" y="3291840"/>
            <a:ext cx="424180" cy="368935"/>
          </a:xfrm>
          <a:prstGeom prst="rect"/>
          <a:noFill/>
        </p:spPr>
        <p:txBody>
          <a:bodyPr wrap="square" lIns="91440" tIns="45720" rIns="91440" bIns="45720" numCol="1" vert="horz" anchor="t">
            <a:spAutoFit/>
          </a:bodyPr>
          <a:lstStyle/>
          <a:p>
            <a:pPr marL="0" indent="0" algn="ctr">
              <a:buFontTx/>
              <a:buNone/>
              <a:defRPr sz="1800" b="1">
                <a:solidFill>
                  <a:srgbClr val="FF9800"/>
                </a:solidFill>
                <a:latin typeface="Consolas" charset="0"/>
              </a:defRPr>
            </a:pPr>
            <a:r>
              <a:rPr/>
              <a:t>&gt;</a:t>
            </a:r>
            <a:endParaRPr lang="ko-KR" altLang="en-US"/>
          </a:p>
        </p:txBody>
      </p:sp>
      <p:sp>
        <p:nvSpPr>
          <p:cNvPr id="21" name="Rounded Rectangle 20"/>
          <p:cNvSpPr>
            <a:spLocks/>
          </p:cNvSpPr>
          <p:nvPr/>
        </p:nvSpPr>
        <p:spPr>
          <a:xfrm rot="0">
            <a:off x="8961120" y="2560320"/>
            <a:ext cx="2560955" cy="1829435"/>
          </a:xfrm>
          <a:prstGeom prst="roundRect"/>
          <a:solidFill>
            <a:srgbClr val="121A2E"/>
          </a:solidFill>
          <a:ln w="25400" cap="flat" cmpd="sng">
            <a:solidFill>
              <a:srgbClr val="FF4545">
                <a:alpha val="100000"/>
              </a:srgbClr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>
              <a:buFontTx/>
              <a:buNone/>
            </a:pPr>
            <a:endParaRPr lang="ko-KR" altLang="en-US" sz="1800">
              <a:solidFill>
                <a:schemeClr val="tx1"/>
              </a:solidFill>
              <a:latin typeface="Calibri" charset="0"/>
              <a:ea typeface="+mn-ea"/>
              <a:cs typeface="+mn-cs"/>
            </a:endParaRPr>
          </a:p>
        </p:txBody>
      </p:sp>
      <p:sp>
        <p:nvSpPr>
          <p:cNvPr id="22" name="TextBox 21"/>
          <p:cNvSpPr txBox="1">
            <a:spLocks/>
          </p:cNvSpPr>
          <p:nvPr/>
        </p:nvSpPr>
        <p:spPr>
          <a:xfrm rot="0">
            <a:off x="9144000" y="2743200"/>
            <a:ext cx="2195195" cy="274955"/>
          </a:xfrm>
          <a:prstGeom prst="rect"/>
          <a:noFill/>
        </p:spPr>
        <p:txBody>
          <a:bodyPr wrap="square" lIns="91440" tIns="45720" rIns="91440" bIns="45720" numCol="1" vert="horz" anchor="t">
            <a:spAutoFit/>
          </a:bodyPr>
          <a:lstStyle/>
          <a:p>
            <a:pPr marL="0" indent="0" algn="l">
              <a:buFontTx/>
              <a:buNone/>
              <a:defRPr sz="1000" b="1">
                <a:solidFill>
                  <a:srgbClr val="FF4545"/>
                </a:solidFill>
                <a:latin typeface="Consolas" charset="0"/>
              </a:defRPr>
            </a:pPr>
            <a:r>
              <a:rPr/>
              <a:t>PHASE 04</a:t>
            </a:r>
            <a:endParaRPr lang="ko-KR" altLang="en-US"/>
          </a:p>
        </p:txBody>
      </p:sp>
      <p:sp>
        <p:nvSpPr>
          <p:cNvPr id="23" name="TextBox 22"/>
          <p:cNvSpPr txBox="1">
            <a:spLocks/>
          </p:cNvSpPr>
          <p:nvPr/>
        </p:nvSpPr>
        <p:spPr>
          <a:xfrm rot="0">
            <a:off x="9144000" y="3063240"/>
            <a:ext cx="2195195" cy="366395"/>
          </a:xfrm>
          <a:prstGeom prst="rect"/>
          <a:noFill/>
        </p:spPr>
        <p:txBody>
          <a:bodyPr wrap="square" lIns="91440" tIns="45720" rIns="91440" bIns="45720" numCol="1" vert="horz" anchor="t">
            <a:spAutoFit/>
          </a:bodyPr>
          <a:lstStyle/>
          <a:p>
            <a:pPr marL="0" indent="0" algn="l">
              <a:buFontTx/>
              <a:buNone/>
              <a:defRPr sz="1800" b="1">
                <a:solidFill>
                  <a:srgbClr val="FFFFFF"/>
                </a:solidFill>
                <a:latin typeface="Malgun Gothic" charset="0"/>
              </a:defRPr>
            </a:pPr>
            <a:r>
              <a:rPr/>
              <a:t>경고 &amp; 퇴각</a:t>
            </a:r>
            <a:endParaRPr lang="ko-KR" altLang="en-US"/>
          </a:p>
        </p:txBody>
      </p:sp>
      <p:sp>
        <p:nvSpPr>
          <p:cNvPr id="24" name="TextBox 23"/>
          <p:cNvSpPr txBox="1">
            <a:spLocks/>
          </p:cNvSpPr>
          <p:nvPr/>
        </p:nvSpPr>
        <p:spPr>
          <a:xfrm rot="0">
            <a:off x="9144000" y="3520440"/>
            <a:ext cx="2195195" cy="732155"/>
          </a:xfrm>
          <a:prstGeom prst="rect"/>
          <a:noFill/>
        </p:spPr>
        <p:txBody>
          <a:bodyPr wrap="square" lIns="91440" tIns="45720" rIns="91440" bIns="45720" numCol="1" vert="horz" anchor="t">
            <a:spAutoFit/>
          </a:bodyPr>
          <a:lstStyle/>
          <a:p>
            <a:pPr marL="0" indent="0" algn="l">
              <a:buFontTx/>
              <a:buNone/>
              <a:defRPr sz="1200" b="0">
                <a:solidFill>
                  <a:srgbClr val="A0A8B8"/>
                </a:solidFill>
                <a:latin typeface="Malgun Gothic" charset="0"/>
              </a:defRPr>
            </a:pPr>
            <a:r>
              <a:rPr/>
              <a:t>2분 전 경고 -&gt;</a:t>
            </a:r>
            <a:r>
              <a:rPr/>
              <a:t/>
            </a:r>
            <a:br>
              <a:rPr/>
            </a:br>
            <a:r>
              <a:rPr/>
              <a:t>강제 복귀 -&gt; 에스코트</a:t>
            </a:r>
            <a:endParaRPr lang="ko-KR" altLang="en-US"/>
          </a:p>
        </p:txBody>
      </p:sp>
      <p:sp>
        <p:nvSpPr>
          <p:cNvPr id="25" name="Rounded Rectangle 24"/>
          <p:cNvSpPr/>
          <p:nvPr/>
        </p:nvSpPr>
        <p:spPr>
          <a:xfrm>
            <a:off x="731520" y="5029200"/>
            <a:ext cx="4572000" cy="822960"/>
          </a:xfrm>
          <a:prstGeom prst="roundRect">
            <a:avLst/>
          </a:prstGeom>
          <a:solidFill>
            <a:srgbClr val="12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" y="512064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3D 인터랙티브 관제 시뮬레이터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5440680"/>
            <a:ext cx="4023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A0A8B8"/>
                </a:solidFill>
                <a:latin typeface="Consolas"/>
              </a:defRPr>
            </a:pPr>
            <a:r>
              <a:t>Web 기반 Three.js 렌더링 엔진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5623560"/>
            <a:ext cx="4023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B894"/>
                </a:solidFill>
                <a:latin typeface="Consolas"/>
              </a:defRPr>
            </a:pPr>
            <a:r>
              <a:t>Three.js 렌더링 · 3D 궤도 제어 · 실시간 모니터링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760720" y="5029200"/>
            <a:ext cx="4572000" cy="822960"/>
          </a:xfrm>
          <a:prstGeom prst="roundRect">
            <a:avLst/>
          </a:prstGeom>
          <a:solidFill>
            <a:srgbClr val="12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35040" y="512064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실시간 Fleet 통제 대시보드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35040" y="5440680"/>
            <a:ext cx="4023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A0A8B8"/>
                </a:solidFill>
                <a:latin typeface="Consolas"/>
              </a:defRPr>
            </a:pPr>
            <a:r>
              <a:t>React 18 아키텍처 기반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35040" y="5623560"/>
            <a:ext cx="4023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B894"/>
                </a:solidFill>
                <a:latin typeface="Consolas"/>
              </a:defRPr>
            </a:pPr>
            <a:r>
              <a:t>SVG 레이더 시각화 · Fleet 추적 엔진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3093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B894"/>
                </a:solidFill>
                <a:latin typeface="Consolas"/>
              </a:defRPr>
            </a:pPr>
            <a:r>
              <a:t>SWARM-NET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58400" y="63093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A0A8B8"/>
                </a:solidFill>
                <a:latin typeface="Consolas"/>
              </a:defRPr>
            </a:pPr>
            <a:r>
              <a:t>05 / 08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1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6_timer_das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74320"/>
            <a:ext cx="5486400" cy="1363028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548640"/>
            <a:ext cx="2194560" cy="310896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0B101F"/>
                </a:solidFill>
                <a:latin typeface="Consolas"/>
              </a:defRPr>
            </a:pPr>
            <a:r>
              <a:t>REAL-TIME CONTROL DASHBOARD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05840"/>
            <a:ext cx="731520" cy="38100"/>
          </a:xfrm>
          <a:prstGeom prst="rect">
            <a:avLst/>
          </a:prstGeom>
          <a:solidFill>
            <a:srgbClr val="00FF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Malgun Gothic"/>
              </a:defRPr>
            </a:pPr>
            <a:r>
              <a:t>타이머 기반 자동화 관제</a:t>
            </a:r>
            <a:br/>
            <a:r>
              <a:t>및 퇴각 통제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560320"/>
            <a:ext cx="2560320" cy="2560320"/>
          </a:xfrm>
          <a:prstGeom prst="roundRect">
            <a:avLst/>
          </a:prstGeom>
          <a:solidFill>
            <a:srgbClr val="121A2E"/>
          </a:solidFill>
          <a:ln w="2540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280160" y="2788920"/>
            <a:ext cx="822960" cy="822960"/>
          </a:xfrm>
          <a:prstGeom prst="ellipse">
            <a:avLst/>
          </a:prstGeom>
          <a:solidFill>
            <a:srgbClr val="00E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65760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E676"/>
                </a:solidFill>
                <a:latin typeface="Malgun Gothic"/>
              </a:defRPr>
            </a:pPr>
            <a:r>
              <a:t>정상 비행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977640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A8B8"/>
                </a:solidFill>
                <a:latin typeface="Malgun Gothic"/>
              </a:defRPr>
            </a:pPr>
            <a:r>
              <a:t>잔여 시간 &gt; 3분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25196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0E676"/>
                </a:solidFill>
                <a:latin typeface="Consolas"/>
              </a:defRPr>
            </a:pPr>
            <a:r>
              <a:t>08:32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66344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A0A8B8"/>
                </a:solidFill>
                <a:latin typeface="Malgun Gothic"/>
              </a:defRPr>
            </a:pPr>
            <a:r>
              <a:t>Heartbeat ACK 정상 수신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1840" y="2560320"/>
            <a:ext cx="2560320" cy="2560320"/>
          </a:xfrm>
          <a:prstGeom prst="roundRect">
            <a:avLst/>
          </a:prstGeom>
          <a:solidFill>
            <a:srgbClr val="121A2E"/>
          </a:solidFill>
          <a:ln w="25400"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114800" y="2788920"/>
            <a:ext cx="822960" cy="822960"/>
          </a:xfrm>
          <a:prstGeom prst="ellipse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720" y="365760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9800"/>
                </a:solidFill>
                <a:latin typeface="Malgun Gothic"/>
              </a:defRPr>
            </a:pPr>
            <a:r>
              <a:t>시간 임박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3977640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A8B8"/>
                </a:solidFill>
                <a:latin typeface="Malgun Gothic"/>
              </a:defRPr>
            </a:pPr>
            <a:r>
              <a:t>잔여 시간 &lt; 2분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20" y="425196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9800"/>
                </a:solidFill>
                <a:latin typeface="Consolas"/>
              </a:defRPr>
            </a:pPr>
            <a:r>
              <a:t>01:26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466344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A0A8B8"/>
                </a:solidFill>
                <a:latin typeface="Malgun Gothic"/>
              </a:defRPr>
            </a:pPr>
            <a:r>
              <a:t>Push 알림 자동 전송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26480" y="2560320"/>
            <a:ext cx="2560320" cy="2560320"/>
          </a:xfrm>
          <a:prstGeom prst="roundRect">
            <a:avLst/>
          </a:prstGeom>
          <a:solidFill>
            <a:srgbClr val="121A2E"/>
          </a:solidFill>
          <a:ln w="25400">
            <a:solidFill>
              <a:srgbClr val="FF4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949440" y="2788920"/>
            <a:ext cx="822960" cy="822960"/>
          </a:xfrm>
          <a:prstGeom prst="ellipse">
            <a:avLst/>
          </a:prstGeom>
          <a:solidFill>
            <a:srgbClr val="FF4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65760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4545"/>
                </a:solidFill>
                <a:latin typeface="Malgun Gothic"/>
              </a:defRPr>
            </a:pPr>
            <a:r>
              <a:t>비행 종료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977640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A8B8"/>
                </a:solidFill>
                <a:latin typeface="Malgun Gothic"/>
              </a:defRPr>
            </a:pPr>
            <a:r>
              <a:t>잔여 시간 = 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425196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4545"/>
                </a:solidFill>
                <a:latin typeface="Consolas"/>
              </a:defRPr>
            </a:pPr>
            <a:r>
              <a:t>00:00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466344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A0A8B8"/>
                </a:solidFill>
                <a:latin typeface="Malgun Gothic"/>
              </a:defRPr>
            </a:pPr>
            <a:r>
              <a:t>강제 복귀 명령 발령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61120" y="2560320"/>
            <a:ext cx="2560320" cy="2560320"/>
          </a:xfrm>
          <a:prstGeom prst="roundRect">
            <a:avLst/>
          </a:prstGeom>
          <a:solidFill>
            <a:srgbClr val="121A2E"/>
          </a:solidFill>
          <a:ln w="25400">
            <a:solidFill>
              <a:srgbClr val="FF00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784080" y="2788920"/>
            <a:ext cx="822960" cy="822960"/>
          </a:xfrm>
          <a:prstGeom prst="ellipse">
            <a:avLst/>
          </a:prstGeom>
          <a:solidFill>
            <a:srgbClr val="FF00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0" y="365760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0044"/>
                </a:solidFill>
                <a:latin typeface="Malgun Gothic"/>
              </a:defRPr>
            </a:pPr>
            <a:r>
              <a:t>긴급 프로토콜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3977640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A8B8"/>
                </a:solidFill>
                <a:latin typeface="Malgun Gothic"/>
              </a:defRPr>
            </a:pPr>
            <a:r>
              <a:t>미응답 30초 초과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0" y="425196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0044"/>
                </a:solidFill>
                <a:latin typeface="Consolas"/>
              </a:defRPr>
            </a:pPr>
            <a:r>
              <a:t>! ! !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0" y="466344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A0A8B8"/>
                </a:solidFill>
                <a:latin typeface="Malgun Gothic"/>
              </a:defRPr>
            </a:pPr>
            <a:r>
              <a:t>물리적 에스코트</a:t>
            </a:r>
            <a:br/>
            <a:r>
              <a:t>관제 강제 개입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" y="63093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B894"/>
                </a:solidFill>
                <a:latin typeface="Consolas"/>
              </a:defRPr>
            </a:pPr>
            <a:r>
              <a:t>SWARM-NET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0" y="63093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A0A8B8"/>
                </a:solidFill>
                <a:latin typeface="Consolas"/>
              </a:defRPr>
            </a:pPr>
            <a:r>
              <a:t>06 / 08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>
  <p:cSld>
    <p:bg>
      <p:bgPr>
        <a:solidFill>
          <a:srgbClr val="0B101F"/>
        </a:solidFill>
      </p:bgPr>
    </p:bg>
    <p:spTree>
      <p:nvGrpSpPr>
        <p:cNvPr id="1" name=""/>
        <p:cNvGrpSpPr/>
        <p:nvPr/>
      </p:nvGrpSpPr>
      <p:grpSpPr/>
      <p:sp>
        <p:nvSpPr>
          <p:cNvPr id="3" name="Rounded Rectangle 2"/>
          <p:cNvSpPr/>
          <p:nvPr/>
        </p:nvSpPr>
        <p:spPr>
          <a:xfrm>
            <a:off x="731520" y="457200"/>
            <a:ext cx="2194560" cy="311150"/>
          </a:xfrm>
          <a:prstGeom prst="roundRect">
            <a:avLst/>
          </a:prstGeom>
          <a:solidFill>
            <a:srgbClr val="00FF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0B101F"/>
                </a:solidFill>
                <a:latin typeface="Consolas"/>
              </a:defRPr>
            </a:pPr>
            <a:r>
              <a:t>EXPECTED IMPACT &amp; APPLICATIONS</a:t>
            </a:r>
          </a:p>
        </p:txBody>
      </p:sp>
      <p:pic>
        <p:nvPicPr>
          <p:cNvPr id="2" name="Picture 1" descr="C:/Users/sun47/AppData/Roaming/PolarisOffice/ETemp/45692_23558248/image6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0">
            <a:off x="6096635" y="234315"/>
            <a:ext cx="5944235" cy="3160395"/>
          </a:xfrm>
          <a:prstGeom prst="rect"/>
          <a:noFill/>
        </p:spPr>
      </p:pic>
      <p:sp>
        <p:nvSpPr>
          <p:cNvPr id="4" name="Rectangle 3"/>
          <p:cNvSpPr/>
          <p:nvPr/>
        </p:nvSpPr>
        <p:spPr>
          <a:xfrm>
            <a:off x="731520" y="914400"/>
            <a:ext cx="731520" cy="38100"/>
          </a:xfrm>
          <a:prstGeom prst="rect">
            <a:avLst/>
          </a:prstGeom>
          <a:solidFill>
            <a:srgbClr val="00FF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>
            <a:spLocks/>
          </p:cNvSpPr>
          <p:nvPr/>
        </p:nvSpPr>
        <p:spPr>
          <a:xfrm rot="0">
            <a:off x="731520" y="1005840"/>
            <a:ext cx="6401435" cy="915035"/>
          </a:xfrm>
          <a:prstGeom prst="rect"/>
          <a:noFill/>
        </p:spPr>
        <p:txBody>
          <a:bodyPr wrap="square" lIns="91440" tIns="45720" rIns="91440" bIns="45720" numCol="1" vert="horz" anchor="t">
            <a:spAutoFit/>
          </a:bodyPr>
          <a:lstStyle/>
          <a:p>
            <a:pPr marL="0" indent="0" algn="l">
              <a:buFontTx/>
              <a:buNone/>
              <a:defRPr sz="3000" b="1">
                <a:solidFill>
                  <a:srgbClr val="FFFFFF"/>
                </a:solidFill>
                <a:latin typeface="Malgun Gothic" charset="0"/>
              </a:defRPr>
            </a:pPr>
            <a:r>
              <a:rPr/>
              <a:t>지형에 구애받지 않는</a:t>
            </a:r>
            <a:r>
              <a:rPr/>
              <a:t/>
            </a:r>
            <a:br>
              <a:rPr/>
            </a:br>
            <a:r>
              <a:rPr/>
              <a:t>이동식 관제 인프라</a:t>
            </a:r>
            <a:endParaRPr lang="ko-KR" altLang="en-US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2194560"/>
          <a:ext cx="56692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2103120"/>
                <a:gridCol w="2286000"/>
              </a:tblGrid>
              <a:tr h="36576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0FFCC"/>
                          </a:solidFill>
                          <a:latin typeface="Malgun Gothic"/>
                        </a:defRPr>
                      </a:pPr>
                      <a:r>
                        <a:t>항목</a:t>
                      </a:r>
                    </a:p>
                  </a:txBody>
                  <a:tcPr anchor="ctr" marL="109728" marR="73152" marT="45720" marB="45720">
                    <a:solidFill>
                      <a:srgbClr val="151E3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4545"/>
                          </a:solidFill>
                          <a:latin typeface="Malgun Gothic"/>
                        </a:defRPr>
                      </a:pPr>
                      <a:r>
                        <a:t>기존 방식</a:t>
                      </a:r>
                    </a:p>
                  </a:txBody>
                  <a:tcPr anchor="ctr" marL="109728" marR="73152" marT="45720" marB="45720">
                    <a:solidFill>
                      <a:srgbClr val="151E3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0E676"/>
                          </a:solidFill>
                          <a:latin typeface="Malgun Gothic"/>
                        </a:defRPr>
                      </a:pPr>
                      <a:r>
                        <a:t>Swarm-Net</a:t>
                      </a:r>
                    </a:p>
                  </a:txBody>
                  <a:tcPr anchor="ctr" marL="109728" marR="73152" marT="45720" marB="45720">
                    <a:solidFill>
                      <a:srgbClr val="151E3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8E8E8"/>
                          </a:solidFill>
                          <a:latin typeface="Malgun Gothic"/>
                        </a:defRPr>
                      </a:pPr>
                      <a:r>
                        <a:t>탐지 범위</a:t>
                      </a:r>
                    </a:p>
                  </a:txBody>
                  <a:tcPr anchor="ctr" marL="109728" marR="73152" marT="45720" marB="45720">
                    <a:solidFill>
                      <a:srgbClr val="12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8888"/>
                          </a:solidFill>
                          <a:latin typeface="Malgun Gothic"/>
                        </a:defRPr>
                      </a:pPr>
                      <a:r>
                        <a:t>고정 레이더 반경 내</a:t>
                      </a:r>
                    </a:p>
                  </a:txBody>
                  <a:tcPr anchor="ctr" marL="109728" marR="73152" marT="45720" marB="45720">
                    <a:solidFill>
                      <a:srgbClr val="12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E676"/>
                          </a:solidFill>
                          <a:latin typeface="Malgun Gothic"/>
                        </a:defRPr>
                      </a:pPr>
                      <a:r>
                        <a:t>군집 이동으로 동적 공역 커버</a:t>
                      </a:r>
                    </a:p>
                  </a:txBody>
                  <a:tcPr anchor="ctr" marL="109728" marR="73152" marT="45720" marB="45720">
                    <a:solidFill>
                      <a:srgbClr val="121A2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8E8E8"/>
                          </a:solidFill>
                          <a:latin typeface="Malgun Gothic"/>
                        </a:defRPr>
                      </a:pPr>
                      <a:r>
                        <a:t>배치 시간</a:t>
                      </a:r>
                    </a:p>
                  </a:txBody>
                  <a:tcPr anchor="ctr" marL="109728" marR="73152" marT="45720" marB="45720">
                    <a:solidFill>
                      <a:srgbClr val="12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8888"/>
                          </a:solidFill>
                          <a:latin typeface="Malgun Gothic"/>
                        </a:defRPr>
                      </a:pPr>
                      <a:r>
                        <a:t>인프라 설치 수 개월</a:t>
                      </a:r>
                    </a:p>
                  </a:txBody>
                  <a:tcPr anchor="ctr" marL="109728" marR="73152" marT="45720" marB="45720">
                    <a:solidFill>
                      <a:srgbClr val="12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E676"/>
                          </a:solidFill>
                          <a:latin typeface="Malgun Gothic"/>
                        </a:defRPr>
                      </a:pPr>
                      <a:r>
                        <a:t>드론 출격 수 분 내 전개</a:t>
                      </a:r>
                    </a:p>
                  </a:txBody>
                  <a:tcPr anchor="ctr" marL="109728" marR="73152" marT="45720" marB="45720">
                    <a:solidFill>
                      <a:srgbClr val="121A2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8E8E8"/>
                          </a:solidFill>
                          <a:latin typeface="Malgun Gothic"/>
                        </a:defRPr>
                      </a:pPr>
                      <a:r>
                        <a:t>비용 구조</a:t>
                      </a:r>
                    </a:p>
                  </a:txBody>
                  <a:tcPr anchor="ctr" marL="109728" marR="73152" marT="45720" marB="45720">
                    <a:solidFill>
                      <a:srgbClr val="12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8888"/>
                          </a:solidFill>
                          <a:latin typeface="Malgun Gothic"/>
                        </a:defRPr>
                      </a:pPr>
                      <a:r>
                        <a:t>CAPEX 수억 원 (고정 설비)</a:t>
                      </a:r>
                    </a:p>
                  </a:txBody>
                  <a:tcPr anchor="ctr" marL="109728" marR="73152" marT="45720" marB="45720">
                    <a:solidFill>
                      <a:srgbClr val="12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E676"/>
                          </a:solidFill>
                          <a:latin typeface="Malgun Gothic"/>
                        </a:defRPr>
                      </a:pPr>
                      <a:r>
                        <a:t>OPEX 중심 — Fleet 유지보수</a:t>
                      </a:r>
                    </a:p>
                  </a:txBody>
                  <a:tcPr anchor="ctr" marL="109728" marR="73152" marT="45720" marB="45720">
                    <a:solidFill>
                      <a:srgbClr val="121A2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8E8E8"/>
                          </a:solidFill>
                          <a:latin typeface="Malgun Gothic"/>
                        </a:defRPr>
                      </a:pPr>
                      <a:r>
                        <a:t>유연성</a:t>
                      </a:r>
                    </a:p>
                  </a:txBody>
                  <a:tcPr anchor="ctr" marL="109728" marR="73152" marT="45720" marB="45720">
                    <a:solidFill>
                      <a:srgbClr val="12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8888"/>
                          </a:solidFill>
                          <a:latin typeface="Malgun Gothic"/>
                        </a:defRPr>
                      </a:pPr>
                      <a:r>
                        <a:t>고정 위치, 재배치 불가</a:t>
                      </a:r>
                    </a:p>
                  </a:txBody>
                  <a:tcPr anchor="ctr" marL="109728" marR="73152" marT="45720" marB="45720">
                    <a:solidFill>
                      <a:srgbClr val="12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E676"/>
                          </a:solidFill>
                          <a:latin typeface="Malgun Gothic"/>
                        </a:defRPr>
                      </a:pPr>
                      <a:r>
                        <a:t>실시간 공역 재구성</a:t>
                      </a:r>
                    </a:p>
                  </a:txBody>
                  <a:tcPr anchor="ctr" marL="109728" marR="73152" marT="45720" marB="45720">
                    <a:solidFill>
                      <a:srgbClr val="121A2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8E8E8"/>
                          </a:solidFill>
                          <a:latin typeface="Malgun Gothic"/>
                        </a:defRPr>
                      </a:pPr>
                      <a:r>
                        <a:t>확장성</a:t>
                      </a:r>
                    </a:p>
                  </a:txBody>
                  <a:tcPr anchor="ctr" marL="109728" marR="73152" marT="45720" marB="45720">
                    <a:solidFill>
                      <a:srgbClr val="12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8888"/>
                          </a:solidFill>
                          <a:latin typeface="Malgun Gothic"/>
                        </a:defRPr>
                      </a:pPr>
                      <a:r>
                        <a:t>추가 기지국 필요</a:t>
                      </a:r>
                    </a:p>
                  </a:txBody>
                  <a:tcPr anchor="ctr" marL="109728" marR="73152" marT="45720" marB="45720">
                    <a:solidFill>
                      <a:srgbClr val="12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E676"/>
                          </a:solidFill>
                          <a:latin typeface="Malgun Gothic"/>
                        </a:defRPr>
                      </a:pPr>
                      <a:r>
                        <a:t>드론 추가 투입으로 즉시 확장</a:t>
                      </a:r>
                    </a:p>
                  </a:txBody>
                  <a:tcPr anchor="ctr" marL="109728" marR="73152" marT="45720" marB="45720">
                    <a:solidFill>
                      <a:srgbClr val="121A2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8E8E8"/>
                          </a:solidFill>
                          <a:latin typeface="Malgun Gothic"/>
                        </a:defRPr>
                      </a:pPr>
                      <a:r>
                        <a:t>체공 지속성</a:t>
                      </a:r>
                    </a:p>
                  </a:txBody>
                  <a:tcPr anchor="ctr" marL="109728" marR="73152" marT="45720" marB="45720">
                    <a:solidFill>
                      <a:srgbClr val="12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8888"/>
                          </a:solidFill>
                          <a:latin typeface="Malgun Gothic"/>
                        </a:defRPr>
                      </a:pPr>
                      <a:r>
                        <a:t>해당 없음 (고정 설치)</a:t>
                      </a:r>
                    </a:p>
                  </a:txBody>
                  <a:tcPr anchor="ctr" marL="109728" marR="73152" marT="45720" marB="45720">
                    <a:solidFill>
                      <a:srgbClr val="12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E676"/>
                          </a:solidFill>
                          <a:latin typeface="Malgun Gothic"/>
                        </a:defRPr>
                      </a:pPr>
                      <a:r>
                        <a:t>Relay Rotation + Tethered 운용</a:t>
                      </a:r>
                    </a:p>
                  </a:txBody>
                  <a:tcPr anchor="ctr" marL="109728" marR="73152" marT="45720" marB="45720">
                    <a:solidFill>
                      <a:srgbClr val="121A2E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>
            <a:spLocks/>
          </p:cNvSpPr>
          <p:nvPr/>
        </p:nvSpPr>
        <p:spPr>
          <a:xfrm rot="0">
            <a:off x="6608445" y="2799715"/>
            <a:ext cx="2195195" cy="1097915"/>
          </a:xfrm>
          <a:prstGeom prst="roundRect"/>
          <a:solidFill>
            <a:srgbClr val="121A2E"/>
          </a:solidFill>
          <a:ln>
            <a:noFill/>
            <a:prstDash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>
              <a:buFontTx/>
              <a:buNone/>
            </a:pPr>
            <a:endParaRPr lang="ko-KR" altLang="en-US" sz="1800">
              <a:solidFill>
                <a:schemeClr val="tx1"/>
              </a:solidFill>
              <a:latin typeface="Calibri" charset="0"/>
              <a:ea typeface="+mn-ea"/>
              <a:cs typeface="+mn-cs"/>
            </a:endParaRPr>
          </a:p>
        </p:txBody>
      </p:sp>
      <p:sp>
        <p:nvSpPr>
          <p:cNvPr id="8" name="TextBox 7"/>
          <p:cNvSpPr txBox="1">
            <a:spLocks/>
          </p:cNvSpPr>
          <p:nvPr/>
        </p:nvSpPr>
        <p:spPr>
          <a:xfrm rot="0">
            <a:off x="6791325" y="3028315"/>
            <a:ext cx="1829435" cy="320675"/>
          </a:xfrm>
          <a:prstGeom prst="rect"/>
          <a:noFill/>
        </p:spPr>
        <p:txBody>
          <a:bodyPr wrap="square" lIns="91440" tIns="45720" rIns="91440" bIns="45720" numCol="1" vert="horz" anchor="t">
            <a:spAutoFit/>
          </a:bodyPr>
          <a:lstStyle/>
          <a:p>
            <a:pPr marL="0" indent="0" algn="ctr">
              <a:buFontTx/>
              <a:buNone/>
              <a:defRPr sz="1500" b="1">
                <a:solidFill>
                  <a:srgbClr val="FFFFFF"/>
                </a:solidFill>
                <a:latin typeface="Malgun Gothic" charset="0"/>
              </a:defRPr>
            </a:pPr>
            <a:r>
              <a:rPr/>
              <a:t>군사 야전</a:t>
            </a:r>
            <a:endParaRPr lang="ko-KR" altLang="en-US"/>
          </a:p>
        </p:txBody>
      </p:sp>
      <p:sp>
        <p:nvSpPr>
          <p:cNvPr id="9" name="TextBox 8"/>
          <p:cNvSpPr txBox="1">
            <a:spLocks/>
          </p:cNvSpPr>
          <p:nvPr/>
        </p:nvSpPr>
        <p:spPr>
          <a:xfrm rot="0">
            <a:off x="6791325" y="3394075"/>
            <a:ext cx="1829435" cy="274955"/>
          </a:xfrm>
          <a:prstGeom prst="rect"/>
          <a:noFill/>
        </p:spPr>
        <p:txBody>
          <a:bodyPr wrap="square" lIns="91440" tIns="45720" rIns="91440" bIns="45720" numCol="1" vert="horz" anchor="t">
            <a:spAutoFit/>
          </a:bodyPr>
          <a:lstStyle/>
          <a:p>
            <a:pPr marL="0" indent="0" algn="ctr">
              <a:buFontTx/>
              <a:buNone/>
              <a:defRPr sz="1200" b="0">
                <a:solidFill>
                  <a:srgbClr val="A0A8B8"/>
                </a:solidFill>
                <a:latin typeface="Malgun Gothic" charset="0"/>
              </a:defRPr>
            </a:pPr>
            <a:r>
              <a:rPr/>
              <a:t>신속 방어망 구축</a:t>
            </a:r>
            <a:endParaRPr lang="ko-KR" altLang="en-US"/>
          </a:p>
        </p:txBody>
      </p:sp>
      <p:sp>
        <p:nvSpPr>
          <p:cNvPr id="10" name="Rounded Rectangle 9"/>
          <p:cNvSpPr>
            <a:spLocks/>
          </p:cNvSpPr>
          <p:nvPr/>
        </p:nvSpPr>
        <p:spPr>
          <a:xfrm rot="0">
            <a:off x="9168765" y="2799715"/>
            <a:ext cx="2195195" cy="1097915"/>
          </a:xfrm>
          <a:prstGeom prst="roundRect"/>
          <a:solidFill>
            <a:srgbClr val="121A2E"/>
          </a:solidFill>
          <a:ln>
            <a:noFill/>
            <a:prstDash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>
              <a:buFontTx/>
              <a:buNone/>
            </a:pPr>
            <a:endParaRPr lang="ko-KR" altLang="en-US" sz="1800">
              <a:solidFill>
                <a:schemeClr val="tx1"/>
              </a:solidFill>
              <a:latin typeface="Calibri" charset="0"/>
              <a:ea typeface="+mn-ea"/>
              <a:cs typeface="+mn-cs"/>
            </a:endParaRPr>
          </a:p>
        </p:txBody>
      </p:sp>
      <p:sp>
        <p:nvSpPr>
          <p:cNvPr id="11" name="TextBox 10"/>
          <p:cNvSpPr txBox="1">
            <a:spLocks/>
          </p:cNvSpPr>
          <p:nvPr/>
        </p:nvSpPr>
        <p:spPr>
          <a:xfrm rot="0">
            <a:off x="9351645" y="3028315"/>
            <a:ext cx="1829435" cy="320675"/>
          </a:xfrm>
          <a:prstGeom prst="rect"/>
          <a:noFill/>
        </p:spPr>
        <p:txBody>
          <a:bodyPr wrap="square" lIns="91440" tIns="45720" rIns="91440" bIns="45720" numCol="1" vert="horz" anchor="t">
            <a:spAutoFit/>
          </a:bodyPr>
          <a:lstStyle/>
          <a:p>
            <a:pPr marL="0" indent="0" algn="ctr">
              <a:buFontTx/>
              <a:buNone/>
              <a:defRPr sz="1500" b="1">
                <a:solidFill>
                  <a:srgbClr val="FFFFFF"/>
                </a:solidFill>
                <a:latin typeface="Malgun Gothic" charset="0"/>
              </a:defRPr>
            </a:pPr>
            <a:r>
              <a:rPr/>
              <a:t>불법 드론 차단</a:t>
            </a:r>
            <a:endParaRPr lang="ko-KR" altLang="en-US"/>
          </a:p>
        </p:txBody>
      </p:sp>
      <p:sp>
        <p:nvSpPr>
          <p:cNvPr id="12" name="TextBox 11"/>
          <p:cNvSpPr txBox="1">
            <a:spLocks/>
          </p:cNvSpPr>
          <p:nvPr/>
        </p:nvSpPr>
        <p:spPr>
          <a:xfrm rot="0">
            <a:off x="9351645" y="3394075"/>
            <a:ext cx="1829435" cy="274955"/>
          </a:xfrm>
          <a:prstGeom prst="rect"/>
          <a:noFill/>
        </p:spPr>
        <p:txBody>
          <a:bodyPr wrap="square" lIns="91440" tIns="45720" rIns="91440" bIns="45720" numCol="1" vert="horz" anchor="t">
            <a:spAutoFit/>
          </a:bodyPr>
          <a:lstStyle/>
          <a:p>
            <a:pPr marL="0" indent="0" algn="ctr">
              <a:buFontTx/>
              <a:buNone/>
              <a:defRPr sz="1200" b="0">
                <a:solidFill>
                  <a:srgbClr val="A0A8B8"/>
                </a:solidFill>
                <a:latin typeface="Malgun Gothic" charset="0"/>
              </a:defRPr>
            </a:pPr>
            <a:r>
              <a:rPr/>
              <a:t>공항/시설 보안</a:t>
            </a:r>
            <a:endParaRPr lang="ko-KR" altLang="en-US"/>
          </a:p>
        </p:txBody>
      </p:sp>
      <p:sp>
        <p:nvSpPr>
          <p:cNvPr id="13" name="Rounded Rectangle 12"/>
          <p:cNvSpPr>
            <a:spLocks/>
          </p:cNvSpPr>
          <p:nvPr/>
        </p:nvSpPr>
        <p:spPr>
          <a:xfrm rot="0">
            <a:off x="6608445" y="4171315"/>
            <a:ext cx="2195195" cy="1097915"/>
          </a:xfrm>
          <a:prstGeom prst="roundRect"/>
          <a:solidFill>
            <a:srgbClr val="121A2E"/>
          </a:solidFill>
          <a:ln>
            <a:noFill/>
            <a:prstDash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>
              <a:buFontTx/>
              <a:buNone/>
            </a:pPr>
            <a:endParaRPr lang="ko-KR" altLang="en-US" sz="1800">
              <a:solidFill>
                <a:schemeClr val="tx1"/>
              </a:solidFill>
              <a:latin typeface="Calibri" charset="0"/>
              <a:ea typeface="+mn-ea"/>
              <a:cs typeface="+mn-cs"/>
            </a:endParaRPr>
          </a:p>
        </p:txBody>
      </p:sp>
      <p:sp>
        <p:nvSpPr>
          <p:cNvPr id="14" name="TextBox 13"/>
          <p:cNvSpPr txBox="1">
            <a:spLocks/>
          </p:cNvSpPr>
          <p:nvPr/>
        </p:nvSpPr>
        <p:spPr>
          <a:xfrm rot="0">
            <a:off x="6791325" y="4399915"/>
            <a:ext cx="1829435" cy="320675"/>
          </a:xfrm>
          <a:prstGeom prst="rect"/>
          <a:noFill/>
        </p:spPr>
        <p:txBody>
          <a:bodyPr wrap="square" lIns="91440" tIns="45720" rIns="91440" bIns="45720" numCol="1" vert="horz" anchor="t">
            <a:spAutoFit/>
          </a:bodyPr>
          <a:lstStyle/>
          <a:p>
            <a:pPr marL="0" indent="0" algn="ctr">
              <a:buFontTx/>
              <a:buNone/>
              <a:defRPr sz="1500" b="1">
                <a:solidFill>
                  <a:srgbClr val="FFFFFF"/>
                </a:solidFill>
                <a:latin typeface="Malgun Gothic" charset="0"/>
              </a:defRPr>
            </a:pPr>
            <a:r>
              <a:rPr/>
              <a:t>재난 현장</a:t>
            </a:r>
            <a:endParaRPr lang="ko-KR" altLang="en-US"/>
          </a:p>
        </p:txBody>
      </p:sp>
      <p:sp>
        <p:nvSpPr>
          <p:cNvPr id="15" name="TextBox 14"/>
          <p:cNvSpPr txBox="1">
            <a:spLocks/>
          </p:cNvSpPr>
          <p:nvPr/>
        </p:nvSpPr>
        <p:spPr>
          <a:xfrm rot="0">
            <a:off x="6791325" y="4765675"/>
            <a:ext cx="1829435" cy="274955"/>
          </a:xfrm>
          <a:prstGeom prst="rect"/>
          <a:noFill/>
        </p:spPr>
        <p:txBody>
          <a:bodyPr wrap="square" lIns="91440" tIns="45720" rIns="91440" bIns="45720" numCol="1" vert="horz" anchor="t">
            <a:spAutoFit/>
          </a:bodyPr>
          <a:lstStyle/>
          <a:p>
            <a:pPr marL="0" indent="0" algn="ctr">
              <a:buFontTx/>
              <a:buNone/>
              <a:defRPr sz="1200" b="0">
                <a:solidFill>
                  <a:srgbClr val="A0A8B8"/>
                </a:solidFill>
                <a:latin typeface="Malgun Gothic" charset="0"/>
              </a:defRPr>
            </a:pPr>
            <a:r>
              <a:rPr/>
              <a:t>긴급 공역 통제</a:t>
            </a:r>
            <a:endParaRPr lang="ko-KR" altLang="en-US"/>
          </a:p>
        </p:txBody>
      </p:sp>
      <p:sp>
        <p:nvSpPr>
          <p:cNvPr id="16" name="Rounded Rectangle 15"/>
          <p:cNvSpPr>
            <a:spLocks/>
          </p:cNvSpPr>
          <p:nvPr/>
        </p:nvSpPr>
        <p:spPr>
          <a:xfrm rot="0">
            <a:off x="9168765" y="4171315"/>
            <a:ext cx="2195195" cy="1097915"/>
          </a:xfrm>
          <a:prstGeom prst="roundRect"/>
          <a:solidFill>
            <a:srgbClr val="121A2E"/>
          </a:solidFill>
          <a:ln>
            <a:noFill/>
            <a:prstDash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>
              <a:buFontTx/>
              <a:buNone/>
            </a:pPr>
            <a:endParaRPr lang="ko-KR" altLang="en-US" sz="1800">
              <a:solidFill>
                <a:schemeClr val="tx1"/>
              </a:solidFill>
              <a:latin typeface="Calibri" charset="0"/>
              <a:ea typeface="+mn-ea"/>
              <a:cs typeface="+mn-cs"/>
            </a:endParaRPr>
          </a:p>
        </p:txBody>
      </p:sp>
      <p:sp>
        <p:nvSpPr>
          <p:cNvPr id="17" name="TextBox 16"/>
          <p:cNvSpPr txBox="1">
            <a:spLocks/>
          </p:cNvSpPr>
          <p:nvPr/>
        </p:nvSpPr>
        <p:spPr>
          <a:xfrm rot="0">
            <a:off x="9351645" y="4399915"/>
            <a:ext cx="1829435" cy="320675"/>
          </a:xfrm>
          <a:prstGeom prst="rect"/>
          <a:noFill/>
        </p:spPr>
        <p:txBody>
          <a:bodyPr wrap="square" lIns="91440" tIns="45720" rIns="91440" bIns="45720" numCol="1" vert="horz" anchor="t">
            <a:spAutoFit/>
          </a:bodyPr>
          <a:lstStyle/>
          <a:p>
            <a:pPr marL="0" indent="0" algn="ctr">
              <a:buFontTx/>
              <a:buNone/>
              <a:defRPr sz="1500" b="1">
                <a:solidFill>
                  <a:srgbClr val="FFFFFF"/>
                </a:solidFill>
                <a:latin typeface="Malgun Gothic" charset="0"/>
              </a:defRPr>
            </a:pPr>
            <a:r>
              <a:rPr/>
              <a:t>드론 쇼 안전</a:t>
            </a:r>
            <a:endParaRPr lang="ko-KR" altLang="en-US"/>
          </a:p>
        </p:txBody>
      </p:sp>
      <p:sp>
        <p:nvSpPr>
          <p:cNvPr id="18" name="TextBox 17"/>
          <p:cNvSpPr txBox="1">
            <a:spLocks/>
          </p:cNvSpPr>
          <p:nvPr/>
        </p:nvSpPr>
        <p:spPr>
          <a:xfrm rot="0">
            <a:off x="9351645" y="4765675"/>
            <a:ext cx="1829435" cy="274955"/>
          </a:xfrm>
          <a:prstGeom prst="rect"/>
          <a:noFill/>
        </p:spPr>
        <p:txBody>
          <a:bodyPr wrap="square" lIns="91440" tIns="45720" rIns="91440" bIns="45720" numCol="1" vert="horz" anchor="t">
            <a:spAutoFit/>
          </a:bodyPr>
          <a:lstStyle/>
          <a:p>
            <a:pPr marL="0" indent="0" algn="ctr">
              <a:buFontTx/>
              <a:buNone/>
              <a:defRPr sz="1200" b="0">
                <a:solidFill>
                  <a:srgbClr val="A0A8B8"/>
                </a:solidFill>
                <a:latin typeface="Malgun Gothic" charset="0"/>
              </a:defRPr>
            </a:pPr>
            <a:r>
              <a:rPr/>
              <a:t>충돌 방지</a:t>
            </a:r>
            <a:endParaRPr lang="ko-KR" altLang="en-US"/>
          </a:p>
        </p:txBody>
      </p:sp>
      <p:sp>
        <p:nvSpPr>
          <p:cNvPr id="19" name="Rounded Rectangle 18"/>
          <p:cNvSpPr>
            <a:spLocks/>
          </p:cNvSpPr>
          <p:nvPr/>
        </p:nvSpPr>
        <p:spPr>
          <a:xfrm rot="0">
            <a:off x="6608445" y="5542915"/>
            <a:ext cx="2195195" cy="1097915"/>
          </a:xfrm>
          <a:prstGeom prst="roundRect"/>
          <a:solidFill>
            <a:srgbClr val="121A2E"/>
          </a:solidFill>
          <a:ln>
            <a:noFill/>
            <a:prstDash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>
              <a:buFontTx/>
              <a:buNone/>
            </a:pPr>
            <a:endParaRPr lang="ko-KR" altLang="en-US" sz="1800">
              <a:solidFill>
                <a:schemeClr val="tx1"/>
              </a:solidFill>
              <a:latin typeface="Calibri" charset="0"/>
              <a:ea typeface="+mn-ea"/>
              <a:cs typeface="+mn-cs"/>
            </a:endParaRPr>
          </a:p>
        </p:txBody>
      </p:sp>
      <p:sp>
        <p:nvSpPr>
          <p:cNvPr id="20" name="TextBox 19"/>
          <p:cNvSpPr txBox="1">
            <a:spLocks/>
          </p:cNvSpPr>
          <p:nvPr/>
        </p:nvSpPr>
        <p:spPr>
          <a:xfrm rot="0">
            <a:off x="6791325" y="5771515"/>
            <a:ext cx="1829435" cy="320675"/>
          </a:xfrm>
          <a:prstGeom prst="rect"/>
          <a:noFill/>
        </p:spPr>
        <p:txBody>
          <a:bodyPr wrap="square" lIns="91440" tIns="45720" rIns="91440" bIns="45720" numCol="1" vert="horz" anchor="t">
            <a:spAutoFit/>
          </a:bodyPr>
          <a:lstStyle/>
          <a:p>
            <a:pPr marL="0" indent="0" algn="ctr">
              <a:buFontTx/>
              <a:buNone/>
              <a:defRPr sz="1500" b="1">
                <a:solidFill>
                  <a:srgbClr val="FFFFFF"/>
                </a:solidFill>
                <a:latin typeface="Malgun Gothic" charset="0"/>
              </a:defRPr>
            </a:pPr>
            <a:r>
              <a:rPr/>
              <a:t>UAM 공역</a:t>
            </a:r>
            <a:endParaRPr lang="ko-KR" altLang="en-US"/>
          </a:p>
        </p:txBody>
      </p:sp>
      <p:sp>
        <p:nvSpPr>
          <p:cNvPr id="21" name="TextBox 20"/>
          <p:cNvSpPr txBox="1">
            <a:spLocks/>
          </p:cNvSpPr>
          <p:nvPr/>
        </p:nvSpPr>
        <p:spPr>
          <a:xfrm rot="0">
            <a:off x="6791325" y="6137275"/>
            <a:ext cx="1829435" cy="274955"/>
          </a:xfrm>
          <a:prstGeom prst="rect"/>
          <a:noFill/>
        </p:spPr>
        <p:txBody>
          <a:bodyPr wrap="square" lIns="91440" tIns="45720" rIns="91440" bIns="45720" numCol="1" vert="horz" anchor="t">
            <a:spAutoFit/>
          </a:bodyPr>
          <a:lstStyle/>
          <a:p>
            <a:pPr marL="0" indent="0" algn="ctr">
              <a:buFontTx/>
              <a:buNone/>
              <a:defRPr sz="1200" b="0">
                <a:solidFill>
                  <a:srgbClr val="A0A8B8"/>
                </a:solidFill>
                <a:latin typeface="Malgun Gothic" charset="0"/>
              </a:defRPr>
            </a:pPr>
            <a:r>
              <a:rPr/>
              <a:t>복층 비행로 관리</a:t>
            </a:r>
            <a:endParaRPr lang="ko-KR" altLang="en-US"/>
          </a:p>
        </p:txBody>
      </p:sp>
      <p:sp>
        <p:nvSpPr>
          <p:cNvPr id="22" name="Rounded Rectangle 21"/>
          <p:cNvSpPr>
            <a:spLocks/>
          </p:cNvSpPr>
          <p:nvPr/>
        </p:nvSpPr>
        <p:spPr>
          <a:xfrm rot="0">
            <a:off x="9168765" y="5542915"/>
            <a:ext cx="2195195" cy="1097915"/>
          </a:xfrm>
          <a:prstGeom prst="roundRect"/>
          <a:solidFill>
            <a:srgbClr val="121A2E"/>
          </a:solidFill>
          <a:ln>
            <a:noFill/>
            <a:prstDash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>
              <a:buFontTx/>
              <a:buNone/>
            </a:pPr>
            <a:endParaRPr lang="ko-KR" altLang="en-US" sz="1800">
              <a:solidFill>
                <a:schemeClr val="tx1"/>
              </a:solidFill>
              <a:latin typeface="Calibri" charset="0"/>
              <a:ea typeface="+mn-ea"/>
              <a:cs typeface="+mn-cs"/>
            </a:endParaRPr>
          </a:p>
        </p:txBody>
      </p:sp>
      <p:sp>
        <p:nvSpPr>
          <p:cNvPr id="23" name="TextBox 22"/>
          <p:cNvSpPr txBox="1">
            <a:spLocks/>
          </p:cNvSpPr>
          <p:nvPr/>
        </p:nvSpPr>
        <p:spPr>
          <a:xfrm rot="0">
            <a:off x="9351645" y="5771515"/>
            <a:ext cx="1829435" cy="320675"/>
          </a:xfrm>
          <a:prstGeom prst="rect"/>
          <a:noFill/>
        </p:spPr>
        <p:txBody>
          <a:bodyPr wrap="square" lIns="91440" tIns="45720" rIns="91440" bIns="45720" numCol="1" vert="horz" anchor="t">
            <a:spAutoFit/>
          </a:bodyPr>
          <a:lstStyle/>
          <a:p>
            <a:pPr marL="0" indent="0" algn="ctr">
              <a:buFontTx/>
              <a:buNone/>
              <a:defRPr sz="1500" b="1">
                <a:solidFill>
                  <a:srgbClr val="FFFFFF"/>
                </a:solidFill>
                <a:latin typeface="Malgun Gothic" charset="0"/>
              </a:defRPr>
            </a:pPr>
            <a:r>
              <a:rPr/>
              <a:t>농업 방제</a:t>
            </a:r>
            <a:endParaRPr lang="ko-KR" altLang="en-US"/>
          </a:p>
        </p:txBody>
      </p:sp>
      <p:sp>
        <p:nvSpPr>
          <p:cNvPr id="24" name="TextBox 23"/>
          <p:cNvSpPr txBox="1">
            <a:spLocks/>
          </p:cNvSpPr>
          <p:nvPr/>
        </p:nvSpPr>
        <p:spPr>
          <a:xfrm rot="0">
            <a:off x="9351645" y="6137275"/>
            <a:ext cx="1829435" cy="274955"/>
          </a:xfrm>
          <a:prstGeom prst="rect"/>
          <a:noFill/>
        </p:spPr>
        <p:txBody>
          <a:bodyPr wrap="square" lIns="91440" tIns="45720" rIns="91440" bIns="45720" numCol="1" vert="horz" anchor="t">
            <a:spAutoFit/>
          </a:bodyPr>
          <a:lstStyle/>
          <a:p>
            <a:pPr marL="0" indent="0" algn="ctr">
              <a:buFontTx/>
              <a:buNone/>
              <a:defRPr sz="1200" b="0">
                <a:solidFill>
                  <a:srgbClr val="A0A8B8"/>
                </a:solidFill>
                <a:latin typeface="Malgun Gothic" charset="0"/>
              </a:defRPr>
            </a:pPr>
            <a:r>
              <a:rPr/>
              <a:t>구역 진입 제한</a:t>
            </a:r>
            <a:endParaRPr lang="ko-KR" altLang="en-US"/>
          </a:p>
        </p:txBody>
      </p:sp>
      <p:sp>
        <p:nvSpPr>
          <p:cNvPr id="25" name="TextBox 24"/>
          <p:cNvSpPr txBox="1"/>
          <p:nvPr/>
        </p:nvSpPr>
        <p:spPr>
          <a:xfrm>
            <a:off x="365760" y="63093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B894"/>
                </a:solidFill>
                <a:latin typeface="Consolas"/>
              </a:defRPr>
            </a:pPr>
            <a:r>
              <a:t>SWARM-NET</a:t>
            </a:r>
          </a:p>
        </p:txBody>
      </p:sp>
      <p:sp>
        <p:nvSpPr>
          <p:cNvPr id="26" name="TextBox 25"/>
          <p:cNvSpPr txBox="1">
            <a:spLocks/>
          </p:cNvSpPr>
          <p:nvPr/>
        </p:nvSpPr>
        <p:spPr>
          <a:xfrm rot="0">
            <a:off x="9991725" y="7097395"/>
            <a:ext cx="1829435" cy="366395"/>
          </a:xfrm>
          <a:prstGeom prst="rect"/>
          <a:noFill/>
        </p:spPr>
        <p:txBody>
          <a:bodyPr wrap="square" lIns="91440" tIns="45720" rIns="91440" bIns="45720" numCol="1" vert="horz" anchor="t">
            <a:spAutoFit/>
          </a:bodyPr>
          <a:lstStyle/>
          <a:p>
            <a:pPr marL="0" indent="0" algn="r">
              <a:buFontTx/>
              <a:buNone/>
              <a:defRPr sz="900" b="0">
                <a:solidFill>
                  <a:srgbClr val="A0A8B8"/>
                </a:solidFill>
                <a:latin typeface="Consolas" charset="0"/>
              </a:defRPr>
            </a:pPr>
            <a:r>
              <a:rPr/>
              <a:t>07 / 08</a:t>
            </a:r>
            <a:endParaRPr lang="ko-KR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>
  <p:cSld>
    <p:bg>
      <p:bgPr>
        <a:solidFill>
          <a:srgbClr val="0B101F"/>
        </a:solidFill>
      </p:bgPr>
    </p:bg>
    <p:spTree>
      <p:nvGrpSpPr>
        <p:cNvPr id="1" name=""/>
        <p:cNvGrpSpPr/>
        <p:nvPr/>
      </p:nvGrpSpPr>
      <p:grpSpPr/>
      <p:sp>
        <p:nvSpPr>
          <p:cNvPr id="3" name="Rounded Rectangle 2"/>
          <p:cNvSpPr/>
          <p:nvPr/>
        </p:nvSpPr>
        <p:spPr>
          <a:xfrm>
            <a:off x="4114800" y="731520"/>
            <a:ext cx="2194560" cy="311150"/>
          </a:xfrm>
          <a:prstGeom prst="roundRect">
            <a:avLst/>
          </a:prstGeom>
          <a:solidFill>
            <a:srgbClr val="00FF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0B101F"/>
                </a:solidFill>
                <a:latin typeface="Consolas"/>
              </a:defRPr>
            </a:pPr>
            <a:r>
              <a:t>CONCLUSION &amp; ROADMAP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80" y="1097280"/>
            <a:ext cx="1188720" cy="38100"/>
          </a:xfrm>
          <a:prstGeom prst="rect">
            <a:avLst/>
          </a:prstGeom>
          <a:solidFill>
            <a:srgbClr val="00FF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128016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Malgun Gothic"/>
              </a:defRPr>
            </a:pPr>
            <a:r>
              <a:t>안전하고 체계적인 하늘의 미래,</a:t>
            </a:r>
            <a:br/>
            <a:r>
              <a:t>Swarm-Net이 만들어갑니다</a:t>
            </a:r>
          </a:p>
        </p:txBody>
      </p:sp>
      <p:sp>
        <p:nvSpPr>
          <p:cNvPr id="6" name="Oval 5"/>
          <p:cNvSpPr/>
          <p:nvPr/>
        </p:nvSpPr>
        <p:spPr>
          <a:xfrm>
            <a:off x="1371600" y="2926080"/>
            <a:ext cx="914400" cy="914400"/>
          </a:xfrm>
          <a:prstGeom prst="ellipse">
            <a:avLst/>
          </a:prstGeom>
          <a:noFill/>
          <a:ln w="3175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77440" y="3337560"/>
            <a:ext cx="1188720" cy="25400"/>
          </a:xfrm>
          <a:prstGeom prst="rect">
            <a:avLst/>
          </a:prstGeom>
          <a:solidFill>
            <a:srgbClr val="334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397764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0E676"/>
                </a:solidFill>
                <a:latin typeface="Consolas"/>
              </a:defRPr>
            </a:pPr>
            <a:r>
              <a:t>STAGE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2062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algun Gothic"/>
              </a:defRPr>
            </a:pPr>
            <a:r>
              <a:t>SC2 시뮬레이션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57200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A8B8"/>
                </a:solidFill>
                <a:latin typeface="Malgun Gothic"/>
              </a:defRPr>
            </a:pPr>
            <a:r>
              <a:t>10,000+ 게임 검증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84632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0E676"/>
                </a:solidFill>
                <a:latin typeface="Consolas"/>
              </a:defRPr>
            </a:pPr>
            <a:r>
              <a:t>COMPLETED</a:t>
            </a:r>
          </a:p>
        </p:txBody>
      </p:sp>
      <p:sp>
        <p:nvSpPr>
          <p:cNvPr id="12" name="Oval 11"/>
          <p:cNvSpPr/>
          <p:nvPr/>
        </p:nvSpPr>
        <p:spPr>
          <a:xfrm>
            <a:off x="4114800" y="2926080"/>
            <a:ext cx="914400" cy="914400"/>
          </a:xfrm>
          <a:prstGeom prst="ellipse">
            <a:avLst/>
          </a:prstGeom>
          <a:noFill/>
          <a:ln w="3175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120640" y="3337560"/>
            <a:ext cx="1188720" cy="25400"/>
          </a:xfrm>
          <a:prstGeom prst="rect">
            <a:avLst/>
          </a:prstGeom>
          <a:solidFill>
            <a:srgbClr val="334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720" y="397764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0E676"/>
                </a:solidFill>
                <a:latin typeface="Consolas"/>
              </a:defRPr>
            </a:pPr>
            <a:r>
              <a:t>STAGE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42062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algun Gothic"/>
              </a:defRPr>
            </a:pPr>
            <a:r>
              <a:t>3D 시뮬레이터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20" y="457200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A8B8"/>
                </a:solidFill>
                <a:latin typeface="Malgun Gothic"/>
              </a:defRPr>
            </a:pPr>
            <a:r>
              <a:t>파라미터 2D-&gt;3D 적응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484632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0E676"/>
                </a:solidFill>
                <a:latin typeface="Consolas"/>
              </a:defRPr>
            </a:pPr>
            <a:r>
              <a:t>COMPLETED</a:t>
            </a:r>
          </a:p>
        </p:txBody>
      </p:sp>
      <p:sp>
        <p:nvSpPr>
          <p:cNvPr id="18" name="Oval 17"/>
          <p:cNvSpPr/>
          <p:nvPr/>
        </p:nvSpPr>
        <p:spPr>
          <a:xfrm>
            <a:off x="6858000" y="2926080"/>
            <a:ext cx="914400" cy="914400"/>
          </a:xfrm>
          <a:prstGeom prst="ellipse">
            <a:avLst/>
          </a:prstGeom>
          <a:noFill/>
          <a:ln w="31750"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863840" y="3337560"/>
            <a:ext cx="1188720" cy="25400"/>
          </a:xfrm>
          <a:prstGeom prst="rect">
            <a:avLst/>
          </a:prstGeom>
          <a:solidFill>
            <a:srgbClr val="334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17920" y="397764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9800"/>
                </a:solidFill>
                <a:latin typeface="Consolas"/>
              </a:defRPr>
            </a:pPr>
            <a:r>
              <a:t>STAGE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0" y="42062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algun Gothic"/>
              </a:defRPr>
            </a:pPr>
            <a:r>
              <a:t>실 드론 테스트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457200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A8B8"/>
                </a:solidFill>
                <a:latin typeface="Malgun Gothic"/>
              </a:defRPr>
            </a:pPr>
            <a:r>
              <a:t>5대 편대 비행 검증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0" y="484632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9800"/>
                </a:solidFill>
                <a:latin typeface="Consolas"/>
              </a:defRPr>
            </a:pPr>
            <a:r>
              <a:t>NEXT PHASE</a:t>
            </a:r>
          </a:p>
        </p:txBody>
      </p:sp>
      <p:sp>
        <p:nvSpPr>
          <p:cNvPr id="24" name="Oval 23"/>
          <p:cNvSpPr/>
          <p:nvPr/>
        </p:nvSpPr>
        <p:spPr>
          <a:xfrm>
            <a:off x="9601200" y="2926080"/>
            <a:ext cx="914400" cy="914400"/>
          </a:xfrm>
          <a:prstGeom prst="ellipse">
            <a:avLst/>
          </a:prstGeom>
          <a:noFill/>
          <a:ln w="31750">
            <a:solidFill>
              <a:srgbClr val="B38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61120" y="397764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B388FF"/>
                </a:solidFill>
                <a:latin typeface="Consolas"/>
              </a:defRPr>
            </a:pPr>
            <a:r>
              <a:t>STAGE 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61120" y="42062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algun Gothic"/>
              </a:defRPr>
            </a:pPr>
            <a:r>
              <a:t>도시 스케일 ATC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61120" y="457200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A8B8"/>
                </a:solidFill>
                <a:latin typeface="Malgun Gothic"/>
              </a:defRPr>
            </a:pPr>
            <a:r>
              <a:t>100+ 드론 관제 시스템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61120" y="484632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B388FF"/>
                </a:solidFill>
                <a:latin typeface="Consolas"/>
              </a:defRPr>
            </a:pPr>
            <a:r>
              <a:t>VISION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8800" y="5303520"/>
            <a:ext cx="7772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Consolas"/>
              </a:defRPr>
            </a:pPr>
            <a:r>
              <a:t>THANK YOU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5852160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A8B8"/>
                </a:solidFill>
                <a:latin typeface="Consolas"/>
              </a:defRPr>
            </a:pPr>
            <a:r>
              <a:t>Q &amp; 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3093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B894"/>
                </a:solidFill>
                <a:latin typeface="Consolas"/>
              </a:defRPr>
            </a:pPr>
            <a:r>
              <a:t>SWARM-NET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0" y="63093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A0A8B8"/>
                </a:solidFill>
                <a:latin typeface="Consolas"/>
              </a:defRPr>
            </a:pPr>
            <a:r>
              <a:t>08 / 08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Polaris Office Slide</Application>
  <AppVersion>12.000</AppVersion>
  <Characters>0</Characters>
  <CharactersWithSpaces>0</CharactersWithSpaces>
  <DocSecurity>0</DocSecurity>
  <HyperlinksChanged>false</HyperlinksChanged>
  <Lines>0</Lines>
  <LinksUpToDate>false</LinksUpToDate>
  <Pages>8</Pages>
  <Paragraphs>0</Paragraphs>
  <Words>0</Words>
  <TotalTime>0</TotalTime>
  <MMClips>0</MMClips>
  <ScaleCrop>false</ScaleCrop>
  <HeadingPairs>
    <vt:vector size="2" baseType="variant">
      <vt:variant>
        <vt:lpstr>Title</vt:lpstr>
      </vt:variant>
      <vt:variant>
        <vt:i4>1</vt:i4>
      </vt:variant>
    </vt:vector>
  </HeadingPairs>
  <TitlesOfParts>
    <vt:vector size="1" baseType="lpstr">
      <vt:lpstr>Title text</vt:lpstr>
    </vt:vector>
  </TitlesOfParts>
  <SharedDoc>false</SharedDoc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revision>3</cp:revision>
  <cp:lastModifiedBy>장 선우</cp:lastModifiedBy>
  <cp:version>10.105.298.56155</cp:version>
  <dcterms:modified xsi:type="dcterms:W3CDTF">2013-01-27T09:15:58Z</dcterms:modified>
</cp:coreProperties>
</file>