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463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C8FF"/>
                </a:solidFill>
                <a:latin typeface="Malgun Gothic"/>
              </a:defRPr>
            </a:pPr>
            <a:r>
              <a:t>군집드론 활용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1031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00FF88"/>
                </a:solidFill>
                <a:latin typeface="Malgun Gothic"/>
              </a:defRPr>
            </a:pPr>
            <a:r>
              <a:t>공역 통제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834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DD3FC"/>
                </a:solidFill>
                <a:latin typeface="Malgun Gothic"/>
              </a:defRPr>
            </a:pPr>
            <a:r>
              <a:t>Swarm Drone Airspace Control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383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Boids 3D 분산 제어  |  TTC 충돌 예측  |  가상 비행 회랑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4114800"/>
            <a:ext cx="1463040" cy="292608"/>
          </a:xfrm>
          <a:prstGeom prst="round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B1120"/>
                </a:solidFill>
                <a:latin typeface="Consolas"/>
              </a:defRPr>
            </a:pPr>
            <a:r>
              <a:t>Boids 3D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4114800"/>
            <a:ext cx="1463040" cy="292608"/>
          </a:xfrm>
          <a:prstGeom prst="round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B1120"/>
                </a:solidFill>
                <a:latin typeface="Consolas"/>
              </a:defRPr>
            </a:pPr>
            <a:r>
              <a:t>UTM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79" y="4114800"/>
            <a:ext cx="1463040" cy="292608"/>
          </a:xfrm>
          <a:prstGeom prst="round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B1120"/>
                </a:solidFill>
                <a:latin typeface="Consolas"/>
              </a:defRPr>
            </a:pPr>
            <a:r>
              <a:t>TTC Collision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59" y="4114800"/>
            <a:ext cx="1463040" cy="292608"/>
          </a:xfrm>
          <a:prstGeom prst="roundRect">
            <a:avLst/>
          </a:prstGeom>
          <a:solidFill>
            <a:srgbClr val="FF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B1120"/>
                </a:solidFill>
                <a:latin typeface="Consolas"/>
              </a:defRPr>
            </a:pPr>
            <a:r>
              <a:t>Fail-Safe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0" y="4114800"/>
            <a:ext cx="1463040" cy="292608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B1120"/>
                </a:solidFill>
                <a:latin typeface="Consolas"/>
              </a:defRPr>
            </a:pPr>
            <a:r>
              <a:t>MAVLink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4748B"/>
                </a:solidFill>
                <a:latin typeface="Malgun Gothic"/>
              </a:defRPr>
            </a:pPr>
            <a:r>
              <a:t>Capstone Design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309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onsolas"/>
              </a:defRPr>
            </a:pPr>
            <a:r>
              <a:t>Swarm Drone Airspace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309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onsolas"/>
              </a:defRPr>
            </a:pPr>
            <a: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8FF"/>
                </a:solidFill>
                <a:latin typeface="Malgun Gothic"/>
              </a:defRPr>
            </a:pPr>
            <a:r>
              <a:t>프로젝트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기존 게임 AI 지휘관 시스템을 실제 드론 군집 공역 통제로 전환합니다.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303520" cy="210312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FF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464"/>
                </a:solidFill>
                <a:latin typeface="Malgun Gothic"/>
              </a:defRPr>
            </a:pPr>
            <a:r>
              <a:t>문제 정의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algun Gothic"/>
              </a:defRPr>
            </a:pPr>
            <a:r>
              <a:t>- 드론 수 증가 -&gt; 충돌/공역 침범 위험 급증</a:t>
            </a:r>
            <a:br/>
            <a:r>
              <a:t>- 중앙 서버 의존 -&gt; 단일 장애점(SPOF)</a:t>
            </a:r>
            <a:br/>
            <a:r>
              <a:t>- 수동 경로 설정 -&gt; 확장성 한계</a:t>
            </a:r>
            <a:br/>
            <a:r>
              <a:t>- 긴급 상황 대응 -&gt; 실시간 판단 부재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554480"/>
            <a:ext cx="5303520" cy="210312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645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FF88"/>
                </a:solidFill>
                <a:latin typeface="Malgun Gothic"/>
              </a:defRPr>
            </a:pPr>
            <a:r>
              <a:t>해결 방안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01168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algun Gothic"/>
              </a:defRPr>
            </a:pPr>
            <a:r>
              <a:t>- Boids 3D: 분산 자율 군집 제어</a:t>
            </a:r>
            <a:br/>
            <a:r>
              <a:t>- TTC 예측: 시간 기반 선제적 충돌 회피</a:t>
            </a:r>
            <a:br/>
            <a:r>
              <a:t>- 비행 회랑: 고도층/방향 분리 교통 규칙</a:t>
            </a:r>
            <a:br/>
            <a:r>
              <a:t>- Authority FSM: 우선순위 기반 긴급 대응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40480"/>
            <a:ext cx="2651760" cy="9144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88620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C8FF"/>
                </a:solidFill>
                <a:latin typeface="Consolas"/>
              </a:defRPr>
            </a:pPr>
            <a: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891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Boids 힘 벡터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3840480"/>
            <a:ext cx="2651760" cy="9144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388620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FF88"/>
                </a:solidFill>
                <a:latin typeface="Consola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43891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고도층 (Low/Med/High)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59" y="3840480"/>
            <a:ext cx="2651760" cy="9144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59" y="388620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C832"/>
                </a:solidFill>
                <a:latin typeface="Consolas"/>
              </a:defRPr>
            </a:pPr>
            <a:r>
              <a:t>5초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43891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TTC 예측 범위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19" y="3840480"/>
            <a:ext cx="2651760" cy="9144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19" y="388620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A78BFA"/>
                </a:solidFill>
                <a:latin typeface="Consola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19" y="43891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Authority 모드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5029200"/>
            <a:ext cx="2194560" cy="292608"/>
          </a:xfrm>
          <a:prstGeom prst="roundRect">
            <a:avLst/>
          </a:prstGeom>
          <a:solidFill>
            <a:srgbClr val="FF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B1120"/>
                </a:solidFill>
                <a:latin typeface="Consolas"/>
              </a:defRPr>
            </a:pPr>
            <a:r>
              <a:t>SC2 지휘관 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0292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onsolas"/>
              </a:defRPr>
            </a:pPr>
            <a:r>
              <a:t>-&gt;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0" y="5029200"/>
            <a:ext cx="2194560" cy="292608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B1120"/>
                </a:solidFill>
                <a:latin typeface="Consolas"/>
              </a:defRPr>
            </a:pPr>
            <a:r>
              <a:t>알고리즘 추출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50292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onsolas"/>
              </a:defRPr>
            </a:pPr>
            <a:r>
              <a:t>-&gt;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5029200"/>
            <a:ext cx="2194560" cy="292608"/>
          </a:xfrm>
          <a:prstGeom prst="round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B1120"/>
                </a:solidFill>
                <a:latin typeface="Consolas"/>
              </a:defRPr>
            </a:pPr>
            <a:r>
              <a:t>3D 확장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50292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onsolas"/>
              </a:defRPr>
            </a:pPr>
            <a:r>
              <a:t>-&gt;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0" y="5029200"/>
            <a:ext cx="2194560" cy="292608"/>
          </a:xfrm>
          <a:prstGeom prst="round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B1120"/>
                </a:solidFill>
                <a:latin typeface="Consolas"/>
              </a:defRPr>
            </a:pPr>
            <a:r>
              <a:t>드론 공역 통제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309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onsolas"/>
              </a:defRPr>
            </a:pPr>
            <a:r>
              <a:t>Swarm Drone Airspace 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6309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onsolas"/>
              </a:defRPr>
            </a:pPr>
            <a: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8FF"/>
                </a:solidFill>
                <a:latin typeface="Malgun Gothic"/>
              </a:defRPr>
            </a:pPr>
            <a:r>
              <a:t>시스템 아키텍처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05840"/>
            <a:ext cx="2286000" cy="292608"/>
          </a:xfrm>
          <a:prstGeom prst="round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B1120"/>
                </a:solidFill>
                <a:latin typeface="Consolas"/>
              </a:defRPr>
            </a:pPr>
            <a:r>
              <a:t>Sensor Input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10058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onsolas"/>
              </a:defRPr>
            </a:pPr>
            <a:r>
              <a:t>-&gt;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005840"/>
            <a:ext cx="2286000" cy="292608"/>
          </a:xfrm>
          <a:prstGeom prst="round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B1120"/>
                </a:solidFill>
                <a:latin typeface="Consolas"/>
              </a:defRPr>
            </a:pPr>
            <a:r>
              <a:t>Flight Data 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97880" y="10058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onsolas"/>
              </a:defRPr>
            </a:pPr>
            <a:r>
              <a:t>-&gt;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005840"/>
            <a:ext cx="2286000" cy="292608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B1120"/>
                </a:solidFill>
                <a:latin typeface="Consolas"/>
              </a:defRPr>
            </a:pPr>
            <a:r>
              <a:t>Decision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10058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onsolas"/>
              </a:defRPr>
            </a:pPr>
            <a:r>
              <a:t>-&gt;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1005840"/>
            <a:ext cx="2286000" cy="292608"/>
          </a:xfrm>
          <a:prstGeom prst="round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B1120"/>
                </a:solidFill>
                <a:latin typeface="Consolas"/>
              </a:defRPr>
            </a:pPr>
            <a:r>
              <a:t>MAVLink Cmd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463040"/>
            <a:ext cx="3566160" cy="237744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554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8FF"/>
                </a:solidFill>
                <a:latin typeface="Malgun Gothic"/>
              </a:defRPr>
            </a:pPr>
            <a:r>
              <a:t>Flight Data 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8288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(= SC2 Blackboard)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10312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algun Gothic"/>
              </a:defRPr>
            </a:pPr>
            <a:r>
              <a:t>  DroneState: 위치/속도/헤딩</a:t>
            </a:r>
            <a:br/>
            <a:r>
              <a:t>  공역 상태: 고도층 점유율</a:t>
            </a:r>
            <a:br/>
            <a:r>
              <a:t>  충돌 경보: TTC 알림 큐</a:t>
            </a:r>
            <a:br/>
            <a:r>
              <a:t>  회랑 할당: 비행 경로 상태</a:t>
            </a:r>
            <a:br/>
            <a:r>
              <a:t>  Authority Mode: 현재 우선순위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463040"/>
            <a:ext cx="3566160" cy="237744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1554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  <a:latin typeface="Malgun Gothic"/>
              </a:defRPr>
            </a:pPr>
            <a:r>
              <a:t>Decision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18288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(= SC2 CombatManager)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10312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algun Gothic"/>
              </a:defRPr>
            </a:pPr>
            <a:r>
              <a:t>  Boids3DController: 군집 제어</a:t>
            </a:r>
            <a:br/>
            <a:r>
              <a:t>  CollisionPredictor: TTC 예측</a:t>
            </a:r>
            <a:br/>
            <a:r>
              <a:t>  CorridorManager: 회랑 관리</a:t>
            </a:r>
            <a:br/>
            <a:r>
              <a:t>  AuthorityFSM: 긴급 모드</a:t>
            </a:r>
            <a:br/>
            <a:r>
              <a:t>  PathPlanner: 경로 최적화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463040"/>
            <a:ext cx="3566160" cy="237744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554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FF88"/>
                </a:solidFill>
                <a:latin typeface="Malgun Gothic"/>
              </a:defRPr>
            </a:pPr>
            <a:r>
              <a:t>Communication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8288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(= SC2 API Layer)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10312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algun Gothic"/>
              </a:defRPr>
            </a:pPr>
            <a:r>
              <a:t>  MAVLink: 드론 명령 프로토콜</a:t>
            </a:r>
            <a:br/>
            <a:r>
              <a:t>  GPS/IMU: 위치/자세 데이터</a:t>
            </a:r>
            <a:br/>
            <a:r>
              <a:t>  LiDAR: 장애물 감지</a:t>
            </a:r>
            <a:br/>
            <a:r>
              <a:t>  Mesh Network: 드론 간 통신</a:t>
            </a:r>
            <a:br/>
            <a:r>
              <a:t>  GCS: 지상 관제 UI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023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DD3FC"/>
                </a:solidFill>
                <a:latin typeface="Malgun Gothic"/>
              </a:defRPr>
            </a:pPr>
            <a:r>
              <a:t>SC2 -&gt; 드론 ATC 모듈 매핑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48640" y="4389120"/>
          <a:ext cx="105156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  <a:gridCol w="4114800"/>
              </a:tblGrid>
              <a:tr h="29260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7DD3FC"/>
                          </a:solidFill>
                          <a:latin typeface="Malgun Gothic"/>
                        </a:defRPr>
                      </a:pPr>
                      <a:r>
                        <a:t>SC2 봇 모듈</a:t>
                      </a:r>
                    </a:p>
                  </a:txBody>
                  <a:tcPr anchor="ctr" marL="91440" marT="27432" marB="27432"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7DD3FC"/>
                          </a:solidFill>
                          <a:latin typeface="Malgun Gothic"/>
                        </a:defRPr>
                      </a:pPr>
                      <a:r>
                        <a:t>드론 ATC 모듈</a:t>
                      </a:r>
                    </a:p>
                  </a:txBody>
                  <a:tcPr anchor="ctr" marL="91440" marT="27432" marB="27432"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7DD3FC"/>
                          </a:solidFill>
                          <a:latin typeface="Malgun Gothic"/>
                        </a:defRPr>
                      </a:pPr>
                      <a:r>
                        <a:t>역할</a:t>
                      </a:r>
                    </a:p>
                  </a:txBody>
                  <a:tcPr anchor="ctr" marL="91440" marT="27432" marB="27432">
                    <a:solidFill>
                      <a:srgbClr val="121A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EC5"/>
                          </a:solidFill>
                          <a:latin typeface="Malgun Gothic"/>
                        </a:defRPr>
                      </a:pPr>
                      <a:r>
                        <a:t>Blackboard</a:t>
                      </a:r>
                    </a:p>
                  </a:txBody>
                  <a:tcPr anchor="ctr" marL="91440" marT="27432" marB="2743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C8FF"/>
                          </a:solidFill>
                          <a:latin typeface="Malgun Gothic"/>
                        </a:defRPr>
                      </a:pPr>
                      <a:r>
                        <a:t>Flight Data Hub</a:t>
                      </a:r>
                    </a:p>
                  </a:txBody>
                  <a:tcPr anchor="ctr" marL="91440" marT="27432" marB="2743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EC5"/>
                          </a:solidFill>
                          <a:latin typeface="Malgun Gothic"/>
                        </a:defRPr>
                      </a:pPr>
                      <a:r>
                        <a:t>중앙 상태 저장소</a:t>
                      </a:r>
                    </a:p>
                  </a:txBody>
                  <a:tcPr anchor="ctr" marL="91440" marT="27432" marB="27432">
                    <a:solidFill>
                      <a:srgbClr val="0F17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EC5"/>
                          </a:solidFill>
                          <a:latin typeface="Malgun Gothic"/>
                        </a:defRPr>
                      </a:pPr>
                      <a:r>
                        <a:t>BoidsSwarmControl</a:t>
                      </a:r>
                    </a:p>
                  </a:txBody>
                  <a:tcPr anchor="ctr" marL="91440" marT="27432" marB="2743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C8FF"/>
                          </a:solidFill>
                          <a:latin typeface="Malgun Gothic"/>
                        </a:defRPr>
                      </a:pPr>
                      <a:r>
                        <a:t>Boids3DController</a:t>
                      </a:r>
                    </a:p>
                  </a:txBody>
                  <a:tcPr anchor="ctr" marL="91440" marT="27432" marB="2743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EC5"/>
                          </a:solidFill>
                          <a:latin typeface="Malgun Gothic"/>
                        </a:defRPr>
                      </a:pPr>
                      <a:r>
                        <a:t>군집 이동 제어 (8-Force)</a:t>
                      </a:r>
                    </a:p>
                  </a:txBody>
                  <a:tcPr anchor="ctr" marL="91440" marT="27432" marB="27432">
                    <a:solidFill>
                      <a:srgbClr val="0F17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EC5"/>
                          </a:solidFill>
                          <a:latin typeface="Malgun Gothic"/>
                        </a:defRPr>
                      </a:pPr>
                      <a:r>
                        <a:t>PotentialFields</a:t>
                      </a:r>
                    </a:p>
                  </a:txBody>
                  <a:tcPr anchor="ctr" marL="91440" marT="27432" marB="2743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C8FF"/>
                          </a:solidFill>
                          <a:latin typeface="Malgun Gothic"/>
                        </a:defRPr>
                      </a:pPr>
                      <a:r>
                        <a:t>CollisionPredictor</a:t>
                      </a:r>
                    </a:p>
                  </a:txBody>
                  <a:tcPr anchor="ctr" marL="91440" marT="27432" marB="2743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EC5"/>
                          </a:solidFill>
                          <a:latin typeface="Malgun Gothic"/>
                        </a:defRPr>
                      </a:pPr>
                      <a:r>
                        <a:t>충돌 예측 &amp; 회피</a:t>
                      </a:r>
                    </a:p>
                  </a:txBody>
                  <a:tcPr anchor="ctr" marL="91440" marT="27432" marB="27432">
                    <a:solidFill>
                      <a:srgbClr val="0F17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EC5"/>
                          </a:solidFill>
                          <a:latin typeface="Malgun Gothic"/>
                        </a:defRPr>
                      </a:pPr>
                      <a:r>
                        <a:t>CreepHighway</a:t>
                      </a:r>
                    </a:p>
                  </a:txBody>
                  <a:tcPr anchor="ctr" marL="91440" marT="27432" marB="2743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C8FF"/>
                          </a:solidFill>
                          <a:latin typeface="Malgun Gothic"/>
                        </a:defRPr>
                      </a:pPr>
                      <a:r>
                        <a:t>CorridorManager</a:t>
                      </a:r>
                    </a:p>
                  </a:txBody>
                  <a:tcPr anchor="ctr" marL="91440" marT="27432" marB="2743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EC5"/>
                          </a:solidFill>
                          <a:latin typeface="Malgun Gothic"/>
                        </a:defRPr>
                      </a:pPr>
                      <a:r>
                        <a:t>비행 회랑 관리</a:t>
                      </a:r>
                    </a:p>
                  </a:txBody>
                  <a:tcPr anchor="ctr" marL="91440" marT="27432" marB="27432">
                    <a:solidFill>
                      <a:srgbClr val="0F17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EC5"/>
                          </a:solidFill>
                          <a:latin typeface="Malgun Gothic"/>
                        </a:defRPr>
                      </a:pPr>
                      <a:r>
                        <a:t>AuthorityMode FSM</a:t>
                      </a:r>
                    </a:p>
                  </a:txBody>
                  <a:tcPr anchor="ctr" marL="91440" marT="27432" marB="2743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C8FF"/>
                          </a:solidFill>
                          <a:latin typeface="Malgun Gothic"/>
                        </a:defRPr>
                      </a:pPr>
                      <a:r>
                        <a:t>Authority FSM</a:t>
                      </a:r>
                    </a:p>
                  </a:txBody>
                  <a:tcPr anchor="ctr" marL="91440" marT="27432" marB="2743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EC5"/>
                          </a:solidFill>
                          <a:latin typeface="Malgun Gothic"/>
                        </a:defRPr>
                      </a:pPr>
                      <a:r>
                        <a:t>긴급 상황 우선순위</a:t>
                      </a:r>
                    </a:p>
                  </a:txBody>
                  <a:tcPr anchor="ctr" marL="91440" marT="27432" marB="27432"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365760" y="6309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onsolas"/>
              </a:defRPr>
            </a:pPr>
            <a:r>
              <a:t>Swarm Drone Airspace Control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6309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onsolas"/>
              </a:defRPr>
            </a:pPr>
            <a: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8FF"/>
                </a:solidFill>
                <a:latin typeface="Malgun Gothic"/>
              </a:defRPr>
            </a:pPr>
            <a:r>
              <a:t>Boids 3D 군집 제어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SC2의 6-Force를 3D로 확장하고 고도 관련 2개 힘을 추가하여 총 8개 힘 벡터를 사용합니다.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1325880"/>
            <a:ext cx="7315200" cy="411480"/>
          </a:xfrm>
          <a:prstGeom prst="roundRect">
            <a:avLst/>
          </a:prstGeom>
          <a:solidFill>
            <a:srgbClr val="0A1A12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68880" y="1353312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FF88"/>
                </a:solidFill>
                <a:latin typeface="Consolas"/>
              </a:defRPr>
            </a:pPr>
            <a:r>
              <a:t>F_total = Sum(i=1..8) w_i * F_i(drone, neighbors, environment)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20240"/>
            <a:ext cx="5486400" cy="420624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FF"/>
                </a:solidFill>
                <a:latin typeface="Malgun Gothic"/>
              </a:defRPr>
            </a:pPr>
            <a:r>
              <a:t>기존 SC2 힘 (3D 확장)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377440"/>
            <a:ext cx="137160" cy="137160"/>
          </a:xfrm>
          <a:prstGeom prst="ellipse">
            <a:avLst/>
          </a:prstGeom>
          <a:solidFill>
            <a:srgbClr val="FF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31343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464"/>
                </a:solidFill>
                <a:latin typeface="Malgun Gothic"/>
              </a:defRPr>
            </a:pPr>
            <a:r>
              <a:t>1. Separation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31343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onsolas"/>
              </a:defRPr>
            </a:pPr>
            <a:r>
              <a:t>w=2.0 / r=5m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3288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역제곱 반발력, 드론 간 안전 거리 유지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3108959"/>
            <a:ext cx="137160" cy="137160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044951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FF"/>
                </a:solidFill>
                <a:latin typeface="Malgun Gothic"/>
              </a:defRPr>
            </a:pPr>
            <a:r>
              <a:t>2. Alignment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044951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onsolas"/>
              </a:defRPr>
            </a:pPr>
            <a:r>
              <a:t>w=1.0 / r=30m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264407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이웃 속도 벡터 정렬, 편대 방향 통일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" y="3840480"/>
            <a:ext cx="137160" cy="137160"/>
          </a:xfrm>
          <a:prstGeom prst="ellipse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7647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FF88"/>
                </a:solidFill>
                <a:latin typeface="Malgun Gothic"/>
              </a:defRPr>
            </a:pPr>
            <a:r>
              <a:t>3. Cohesion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77647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onsolas"/>
              </a:defRPr>
            </a:pPr>
            <a:r>
              <a:t>w=1.0 / r=30m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9959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그룹 중심 응집, 편대 유지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4572000"/>
            <a:ext cx="137160" cy="137160"/>
          </a:xfrm>
          <a:prstGeom prst="ellipse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50799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C832"/>
                </a:solidFill>
                <a:latin typeface="Malgun Gothic"/>
              </a:defRPr>
            </a:pPr>
            <a:r>
              <a:t>4. Target Seeking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50799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onsolas"/>
              </a:defRPr>
            </a:pPr>
            <a:r>
              <a:t>w=1.5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72744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목표 웨이포인트로 이동, 거리 비례 감쇠</a:t>
            </a:r>
          </a:p>
        </p:txBody>
      </p:sp>
      <p:sp>
        <p:nvSpPr>
          <p:cNvPr id="25" name="Oval 24"/>
          <p:cNvSpPr/>
          <p:nvPr/>
        </p:nvSpPr>
        <p:spPr>
          <a:xfrm>
            <a:off x="685800" y="5303520"/>
            <a:ext cx="137160" cy="13716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23951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78BFA"/>
                </a:solidFill>
                <a:latin typeface="Malgun Gothic"/>
              </a:defRPr>
            </a:pPr>
            <a:r>
              <a:t>5. Obstacle Avoid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523951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onsolas"/>
              </a:defRPr>
            </a:pPr>
            <a:r>
              <a:t>w=2.5 / r=20m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4589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장애물(건물, 산) 회피, 반발력 기반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1920240"/>
            <a:ext cx="5303520" cy="420624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20116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FF88"/>
                </a:solidFill>
                <a:latin typeface="Malgun Gothic"/>
              </a:defRPr>
            </a:pPr>
            <a:r>
              <a:t>신규 UTM 힘</a:t>
            </a:r>
          </a:p>
        </p:txBody>
      </p:sp>
      <p:sp>
        <p:nvSpPr>
          <p:cNvPr id="31" name="Oval 30"/>
          <p:cNvSpPr/>
          <p:nvPr/>
        </p:nvSpPr>
        <p:spPr>
          <a:xfrm>
            <a:off x="6446520" y="2377440"/>
            <a:ext cx="137160" cy="1371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231343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Malgun Gothic"/>
              </a:defRPr>
            </a:pPr>
            <a:r>
              <a:t>6. Altitude Hold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231343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onsolas"/>
              </a:defRPr>
            </a:pPr>
            <a:r>
              <a:t>w=1.0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253288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지정 고도 유지 (PID P항), 수직 복원력</a:t>
            </a:r>
          </a:p>
        </p:txBody>
      </p:sp>
      <p:sp>
        <p:nvSpPr>
          <p:cNvPr id="35" name="Oval 34"/>
          <p:cNvSpPr/>
          <p:nvPr/>
        </p:nvSpPr>
        <p:spPr>
          <a:xfrm>
            <a:off x="6446520" y="3108959"/>
            <a:ext cx="137160" cy="13716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0" y="3044951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97316"/>
                </a:solidFill>
                <a:latin typeface="Malgun Gothic"/>
              </a:defRPr>
            </a:pPr>
            <a:r>
              <a:t>7. Terrain Clearance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0" y="3044951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onsolas"/>
              </a:defRPr>
            </a:pPr>
            <a:r>
              <a:t>w=3.0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3264407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최소 안전 고도(5m) 미만 시 강제 상승</a:t>
            </a:r>
          </a:p>
        </p:txBody>
      </p:sp>
      <p:sp>
        <p:nvSpPr>
          <p:cNvPr id="39" name="Oval 38"/>
          <p:cNvSpPr/>
          <p:nvPr/>
        </p:nvSpPr>
        <p:spPr>
          <a:xfrm>
            <a:off x="6446520" y="3840480"/>
            <a:ext cx="137160" cy="137160"/>
          </a:xfrm>
          <a:prstGeom prst="ellipse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0" y="377647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79F9"/>
                </a:solidFill>
                <a:latin typeface="Malgun Gothic"/>
              </a:defRPr>
            </a:pPr>
            <a:r>
              <a:t>8. Corridor Follow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0" y="377647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onsolas"/>
              </a:defRPr>
            </a:pPr>
            <a:r>
              <a:t>동적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39959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회랑 중심선 추적, 이탈 시 복원력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45720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C832"/>
                </a:solidFill>
                <a:latin typeface="Malgun Gothic"/>
              </a:defRPr>
            </a:pPr>
            <a:r>
              <a:t>드론 운동학 제한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484632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  max_speed: 15 m/s</a:t>
            </a:r>
            <a:br/>
            <a:r>
              <a:t>  max_acceleration: 5 m/s^2</a:t>
            </a:r>
            <a:br/>
            <a:r>
              <a:t>  max_force: 5 m/s^2 (클램핑)</a:t>
            </a:r>
            <a:br/>
            <a:r>
              <a:t>  altitude: 5~120m (법적 제한)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309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onsolas"/>
              </a:defRPr>
            </a:pPr>
            <a:r>
              <a:t>Swarm Drone Airspace Control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0" y="6309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onsolas"/>
              </a:defRPr>
            </a:pPr>
            <a: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8FF"/>
                </a:solidFill>
                <a:latin typeface="Malgun Gothic"/>
              </a:defRPr>
            </a:pPr>
            <a:r>
              <a:t>TTC 충돌 예측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기존 거리 기반 회피를 시간 기반 궤적 예측으로 업그레이드하여 선제적 충돌 회피를 구현합니다.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474720" cy="228600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FF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464"/>
                </a:solidFill>
                <a:latin typeface="Malgun Gothic"/>
              </a:defRPr>
            </a:pPr>
            <a:r>
              <a:t>기존 방식 (SC2 Boids)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거리 기반 반발력</a:t>
            </a:r>
            <a:br/>
            <a:r>
              <a:t>if distance &lt; threshold -&gt; 반발력 적용</a:t>
            </a:r>
            <a:br/>
            <a:br/>
            <a:r>
              <a:t>X  고속 접근 시 반응 지연</a:t>
            </a:r>
            <a:br/>
            <a:r>
              <a:t>X  병렬 이동 드론 불필요한 회피</a:t>
            </a:r>
            <a:br/>
            <a:r>
              <a:t>X  교차 궤적 사전 감지 불가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31920"/>
            <a:ext cx="3474720" cy="210312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0233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FF88"/>
                </a:solidFill>
                <a:latin typeface="Malgun Gothic"/>
              </a:defRPr>
            </a:pPr>
            <a:r>
              <a:t>새 방식 (TTC 예측)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891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시간 기반 궤적 교차 예측</a:t>
            </a:r>
            <a:br/>
            <a:r>
              <a:t>미래 위치 계산 -&gt; 최소 이격 거리 평가</a:t>
            </a:r>
            <a:br/>
            <a:br/>
            <a:r>
              <a:t>V  5초 전 선제적 회피 기동</a:t>
            </a:r>
            <a:br/>
            <a:r>
              <a:t>V  상대 속도 기반 정밀 판단</a:t>
            </a:r>
            <a:br/>
            <a:r>
              <a:t>V  3단계 심각도 분류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463040"/>
            <a:ext cx="3657600" cy="274320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554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78BFA"/>
                </a:solidFill>
                <a:latin typeface="Malgun Gothic"/>
              </a:defRPr>
            </a:pPr>
            <a:r>
              <a:t>TTC 수학 모델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920240"/>
            <a:ext cx="3291840" cy="2103120"/>
          </a:xfrm>
          <a:prstGeom prst="roundRect">
            <a:avLst/>
          </a:prstGeom>
          <a:solidFill>
            <a:srgbClr val="0A1A12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01168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FF88"/>
                </a:solidFill>
                <a:latin typeface="Consolas"/>
              </a:defRPr>
            </a:pPr>
            <a:r>
              <a:t>rel_pos = B.pos - A.pos</a:t>
            </a:r>
            <a:br/>
            <a:r>
              <a:t>rel_vel = B.vel - A.vel</a:t>
            </a:r>
            <a:br/>
            <a:br/>
            <a:r>
              <a:t>TTC = -dot(rel_pos, rel_vel)</a:t>
            </a:r>
            <a:br/>
            <a:r>
              <a:t>      / dot(rel_vel, rel_vel)</a:t>
            </a:r>
            <a:br/>
            <a:br/>
            <a:r>
              <a:t>min_dist = |A.pos + A.vel*TTC</a:t>
            </a:r>
            <a:br/>
            <a:r>
              <a:t>           - (B.pos + B.vel*TTC)|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4389120"/>
            <a:ext cx="3657600" cy="164592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FFC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44805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C832"/>
                </a:solidFill>
                <a:latin typeface="Malgun Gothic"/>
              </a:defRPr>
            </a:pPr>
            <a:r>
              <a:t>3단계 경보 체계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389120" y="4846320"/>
          <a:ext cx="3291840" cy="1024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280160"/>
              </a:tblGrid>
              <a:tr h="25603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7DD3FC"/>
                          </a:solidFill>
                          <a:latin typeface="Malgun Gothic"/>
                        </a:defRPr>
                      </a:pPr>
                      <a:r>
                        <a:t>레벨</a:t>
                      </a:r>
                    </a:p>
                  </a:txBody>
                  <a:tcPr anchor="ctr" marL="73152" marT="18288" marB="18288"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7DD3FC"/>
                          </a:solidFill>
                          <a:latin typeface="Malgun Gothic"/>
                        </a:defRPr>
                      </a:pPr>
                      <a:r>
                        <a:t>TTC</a:t>
                      </a:r>
                    </a:p>
                  </a:txBody>
                  <a:tcPr anchor="ctr" marL="73152" marT="18288" marB="18288"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7DD3FC"/>
                          </a:solidFill>
                          <a:latin typeface="Malgun Gothic"/>
                        </a:defRPr>
                      </a:pPr>
                      <a:r>
                        <a:t>대응</a:t>
                      </a:r>
                    </a:p>
                  </a:txBody>
                  <a:tcPr anchor="ctr" marL="73152" marT="18288" marB="18288">
                    <a:solidFill>
                      <a:srgbClr val="121A2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C832"/>
                          </a:solidFill>
                          <a:latin typeface="Malgun Gothic"/>
                        </a:defRPr>
                      </a:pPr>
                      <a:r>
                        <a:t>WARNING</a:t>
                      </a:r>
                    </a:p>
                  </a:txBody>
                  <a:tcPr anchor="ctr" marL="73152" marT="18288" marB="18288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EC5"/>
                          </a:solidFill>
                          <a:latin typeface="Malgun Gothic"/>
                        </a:defRPr>
                      </a:pPr>
                      <a:r>
                        <a:t>&lt;= 5.0초</a:t>
                      </a:r>
                    </a:p>
                  </a:txBody>
                  <a:tcPr anchor="ctr" marL="73152" marT="18288" marB="18288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EC5"/>
                          </a:solidFill>
                          <a:latin typeface="Malgun Gothic"/>
                        </a:defRPr>
                      </a:pPr>
                      <a:r>
                        <a:t>경로 미세 조정</a:t>
                      </a:r>
                    </a:p>
                  </a:txBody>
                  <a:tcPr anchor="ctr" marL="73152" marT="18288" marB="18288">
                    <a:solidFill>
                      <a:srgbClr val="0F172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97316"/>
                          </a:solidFill>
                          <a:latin typeface="Malgun Gothic"/>
                        </a:defRPr>
                      </a:pPr>
                      <a:r>
                        <a:t>CRITICAL</a:t>
                      </a:r>
                    </a:p>
                  </a:txBody>
                  <a:tcPr anchor="ctr" marL="73152" marT="18288" marB="18288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EC5"/>
                          </a:solidFill>
                          <a:latin typeface="Malgun Gothic"/>
                        </a:defRPr>
                      </a:pPr>
                      <a:r>
                        <a:t>&lt;= 3.0초</a:t>
                      </a:r>
                    </a:p>
                  </a:txBody>
                  <a:tcPr anchor="ctr" marL="73152" marT="18288" marB="18288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EC5"/>
                          </a:solidFill>
                          <a:latin typeface="Malgun Gothic"/>
                        </a:defRPr>
                      </a:pPr>
                      <a:r>
                        <a:t>회피 기동 시작</a:t>
                      </a:r>
                    </a:p>
                  </a:txBody>
                  <a:tcPr anchor="ctr" marL="73152" marT="18288" marB="18288">
                    <a:solidFill>
                      <a:srgbClr val="0F172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6464"/>
                          </a:solidFill>
                          <a:latin typeface="Malgun Gothic"/>
                        </a:defRPr>
                      </a:pPr>
                      <a:r>
                        <a:t>IMMINENT</a:t>
                      </a:r>
                    </a:p>
                  </a:txBody>
                  <a:tcPr anchor="ctr" marL="73152" marT="18288" marB="18288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EC5"/>
                          </a:solidFill>
                          <a:latin typeface="Malgun Gothic"/>
                        </a:defRPr>
                      </a:pPr>
                      <a:r>
                        <a:t>&lt;= 1.0초</a:t>
                      </a:r>
                    </a:p>
                  </a:txBody>
                  <a:tcPr anchor="ctr" marL="73152" marT="18288" marB="18288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EC5"/>
                          </a:solidFill>
                          <a:latin typeface="Malgun Gothic"/>
                        </a:defRPr>
                      </a:pPr>
                      <a:r>
                        <a:t>긴급 회피 (수직)</a:t>
                      </a:r>
                    </a:p>
                  </a:txBody>
                  <a:tcPr anchor="ctr" marL="73152" marT="18288" marB="18288"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8229600" y="1463040"/>
            <a:ext cx="3474720" cy="457200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5544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FF"/>
                </a:solidFill>
                <a:latin typeface="Malgun Gothic"/>
              </a:defRPr>
            </a:pPr>
            <a:r>
              <a:t>핵심 특징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192024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- 등속 직선 운동 가정</a:t>
            </a:r>
            <a:br/>
            <a:r>
              <a:t>- 상대 위치/속도 벡터 해석</a:t>
            </a:r>
            <a:br/>
            <a:r>
              <a:t>- O(N^2) 전 쌍 검사</a:t>
            </a:r>
            <a:br/>
            <a:r>
              <a:t>- VoxelGrid 사전 필터링 가능</a:t>
            </a:r>
            <a:br/>
            <a:r>
              <a:t>- 시간 기반 회피 강도 조절:</a:t>
            </a:r>
            <a:br/>
            <a:r>
              <a:t>  strength = (5s - TTC) / 5s</a:t>
            </a:r>
            <a:br/>
            <a:r>
              <a:t>- 정확히 같은 위치 -&gt;</a:t>
            </a:r>
            <a:br/>
            <a:r>
              <a:t>  수직 회피 (0, 0, 1)</a:t>
            </a:r>
            <a:br/>
            <a:r>
              <a:t>- 충돌 시점 중간점 계산</a:t>
            </a:r>
            <a:br/>
            <a:r>
              <a:t>- 긴급도 순 정렬 반환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309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onsolas"/>
              </a:defRPr>
            </a:pPr>
            <a:r>
              <a:t>Swarm Drone Airspace 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6309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onsolas"/>
              </a:defRPr>
            </a:pPr>
            <a: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8FF"/>
                </a:solidFill>
                <a:latin typeface="Malgun Gothic"/>
              </a:defRPr>
            </a:pPr>
            <a:r>
              <a:t>가상 비행 회랑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SC2 점막 고속도로(CreepHighway)의 A* 경로를 3D 비행 회랑으로 진화시켰습니다.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486400" cy="292608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FF"/>
                </a:solidFill>
                <a:latin typeface="Malgun Gothic"/>
              </a:defRPr>
            </a:pPr>
            <a:r>
              <a:t>고도층 분리 (3 Layer)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65960"/>
            <a:ext cx="4937760" cy="411480"/>
          </a:xfrm>
          <a:prstGeom prst="roundRect">
            <a:avLst/>
          </a:prstGeom>
          <a:solidFill>
            <a:srgbClr val="0A1428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FF88"/>
                </a:solidFill>
                <a:latin typeface="Consolas"/>
              </a:defRPr>
            </a:pPr>
            <a:r>
              <a:t>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0116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5~30m -- 촬영, 농업, 측량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68880"/>
            <a:ext cx="4937760" cy="411480"/>
          </a:xfrm>
          <a:prstGeom prst="roundRect">
            <a:avLst/>
          </a:prstGeom>
          <a:solidFill>
            <a:srgbClr val="0A1428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5146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8FF"/>
                </a:solidFill>
                <a:latin typeface="Consolas"/>
              </a:defRPr>
            </a:pPr>
            <a:r>
              <a:t>MEDIUM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5146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30~60m -- 배송, 순찰, 감시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971800"/>
            <a:ext cx="4937760" cy="411480"/>
          </a:xfrm>
          <a:prstGeom prst="roundRect">
            <a:avLst/>
          </a:prstGeom>
          <a:solidFill>
            <a:srgbClr val="0A1428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017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78BFA"/>
                </a:solidFill>
                <a:latin typeface="Consolas"/>
              </a:defRPr>
            </a:pPr>
            <a:r>
              <a:t>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0175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60~120m -- 장거리 이동, 중계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566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DD3FC"/>
                </a:solidFill>
                <a:latin typeface="Malgun Gothic"/>
              </a:defRPr>
            </a:pPr>
            <a:r>
              <a:t>방향별 고도 분리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840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  Eastbound (0~180 deg) -&gt; 기본 고도</a:t>
            </a:r>
            <a:br/>
            <a:r>
              <a:t>  Westbound (180~360 deg) -&gt; +15m 오프셋</a:t>
            </a:r>
            <a:br/>
            <a:r>
              <a:t>  항공 교통 규칙 (ICAO) 모사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463040"/>
            <a:ext cx="5303520" cy="210312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FFC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5544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Malgun Gothic"/>
              </a:defRPr>
            </a:pPr>
            <a:r>
              <a:t>회랑 구조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92024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FlightCorridor 구성요소:</a:t>
            </a:r>
            <a:br/>
            <a:r>
              <a:t>  waypoints[]  -- 3D 웨이포인트 시퀀스</a:t>
            </a:r>
            <a:br/>
            <a:r>
              <a:t>  width        -- 회랑 폭 (기본 20m)</a:t>
            </a:r>
            <a:br/>
            <a:r>
              <a:t>  altitude_layer -- 할당 고도층</a:t>
            </a:r>
            <a:br/>
            <a:r>
              <a:t>  bidirectional -- 양방향 여부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749039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DD3FC"/>
                </a:solidFill>
                <a:latin typeface="Malgun Gothic"/>
              </a:defRPr>
            </a:pPr>
            <a:r>
              <a:t>고도 프로파일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4069080"/>
            <a:ext cx="1097280" cy="292608"/>
          </a:xfrm>
          <a:prstGeom prst="round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B1120"/>
                </a:solidFill>
                <a:latin typeface="Consolas"/>
              </a:defRPr>
            </a:pPr>
            <a:r>
              <a:t>0~15%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4069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상승 구간 (이륙 -&gt; 순항 고도)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4434840"/>
            <a:ext cx="1097280" cy="292608"/>
          </a:xfrm>
          <a:prstGeom prst="round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B1120"/>
                </a:solidFill>
                <a:latin typeface="Consolas"/>
              </a:defRPr>
            </a:pPr>
            <a:r>
              <a:t>15~85%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4434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순항 구간 (일정 고도 유지)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800600"/>
            <a:ext cx="1097280" cy="292608"/>
          </a:xfrm>
          <a:prstGeom prst="round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B1120"/>
                </a:solidFill>
                <a:latin typeface="Consolas"/>
              </a:defRPr>
            </a:pPr>
            <a:r>
              <a:t>85~100%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4800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하강 구간 (순항 -&gt; 착륙)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5212080"/>
            <a:ext cx="5303520" cy="82296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FF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53035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464"/>
                </a:solidFill>
                <a:latin typeface="Malgun Gothic"/>
              </a:defRPr>
            </a:pPr>
            <a:r>
              <a:t>회랑 충돌 검출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5778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두 회랑 웨이포인트 교차점 자동 검출 -&gt; 시간 분리 규칙 적용 -&gt; 동적 우회 경로 생성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309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onsolas"/>
              </a:defRPr>
            </a:pPr>
            <a:r>
              <a:t>Swarm Drone Airspace 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309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onsolas"/>
              </a:defRPr>
            </a:pPr>
            <a: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8FF"/>
                </a:solidFill>
                <a:latin typeface="Malgun Gothic"/>
              </a:defRPr>
            </a:pPr>
            <a:r>
              <a:t>Authority Mode -- 긴급 대응 FSM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SC2 봇의 Authority Mode를 드론 공역 통제의 우선순위 기반 상태 머신으로 전환합니다.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132588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FF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447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464"/>
                </a:solidFill>
                <a:latin typeface="Malgun Gothic"/>
              </a:defRPr>
            </a:pPr>
            <a:r>
              <a:t>EMERGENCY (P0)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트리거: TTC &lt;= 1초, 배터리 부족, GPS 상실</a:t>
            </a:r>
            <a:br/>
            <a:r>
              <a:t>대응: 즉시 정지, 수직 회피, 자동 귀환</a:t>
            </a:r>
            <a:br/>
            <a:r>
              <a:t>SC2: 적 러시 감지 -&gt; 전 유닛 방어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880360"/>
            <a:ext cx="5486400" cy="132588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9535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  <a:latin typeface="Malgun Gothic"/>
              </a:defRPr>
            </a:pPr>
            <a:r>
              <a:t>DECONFLICT (P1)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4612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트리거: TTC &lt;= 5초, 회랑 교차</a:t>
            </a:r>
            <a:br/>
            <a:r>
              <a:t>대응: 회피 기동, 속도/고도 조정</a:t>
            </a:r>
            <a:br/>
            <a:r>
              <a:t>SC2: 적 근접 -&gt; 전투 태세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389120"/>
            <a:ext cx="5486400" cy="132588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4622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Malgun Gothic"/>
              </a:defRPr>
            </a:pPr>
            <a:r>
              <a:t>MISSION (P2)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75488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트리거: 임무 수행 중</a:t>
            </a:r>
            <a:br/>
            <a:r>
              <a:t>대응: 촬영/배송/순찰 임무 수행</a:t>
            </a:r>
            <a:br/>
            <a:r>
              <a:t>SC2: 전략 모드 -&gt; 테크 업그레이드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71600"/>
            <a:ext cx="5303520" cy="132588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44475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FF"/>
                </a:solidFill>
                <a:latin typeface="Malgun Gothic"/>
              </a:defRPr>
            </a:pPr>
            <a:r>
              <a:t>CRUISE (P3)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73736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트리거: 이동 중, 위협 없음</a:t>
            </a:r>
            <a:br/>
            <a:r>
              <a:t>대응: Boids 편대 비행, 에너지 최적화</a:t>
            </a:r>
            <a:br/>
            <a:r>
              <a:t>SC2: 경제 모드 -&gt; 자원 수집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880360"/>
            <a:ext cx="5303520" cy="132588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95351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FF88"/>
                </a:solidFill>
                <a:latin typeface="Malgun Gothic"/>
              </a:defRPr>
            </a:pPr>
            <a:r>
              <a:t>IDLE (P4)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24612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트리거: 대기 중, 착륙 상태</a:t>
            </a:r>
            <a:br/>
            <a:r>
              <a:t>대응: 호버링 / 배터리 충전 대기</a:t>
            </a:r>
            <a:br/>
            <a:r>
              <a:t>SC2: BALANCED -&gt; 균형 유지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389120"/>
            <a:ext cx="5303520" cy="155448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FFC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4805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C832"/>
                </a:solidFill>
                <a:latin typeface="Malgun Gothic"/>
              </a:defRPr>
            </a:pPr>
            <a:r>
              <a:t>상태 전이 규칙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80060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  높은 우선순위가 항상 선점</a:t>
            </a:r>
            <a:br/>
            <a:r>
              <a:t>  EMERGENCY는 모든 상태에서 즉시 전환</a:t>
            </a:r>
            <a:br/>
            <a:r>
              <a:t>  위협 해제 시 이전 상태로 복귀</a:t>
            </a:r>
            <a:br/>
            <a:r>
              <a:t>  배터리 20% 미만 -&gt; 강제 EMERGENCY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309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onsolas"/>
              </a:defRPr>
            </a:pPr>
            <a:r>
              <a:t>Swarm Drone Airspace 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309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onsolas"/>
              </a:defRPr>
            </a:pPr>
            <a: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8FF"/>
                </a:solidFill>
                <a:latin typeface="Malgun Gothic"/>
              </a:defRPr>
            </a:pPr>
            <a:r>
              <a:t>데이터 모델 &amp; 드론 상태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5120640" cy="256032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FF"/>
                </a:solidFill>
                <a:latin typeface="Malgun Gothic"/>
              </a:defRPr>
            </a:pPr>
            <a:r>
              <a:t>DroneState (= SC2 Unit)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4754880" cy="20116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4572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onsolas"/>
              </a:defRPr>
            </a:pPr>
            <a:r>
              <a:t>@dataclass</a:t>
            </a:r>
            <a:br/>
            <a:r>
              <a:t>class DroneState:</a:t>
            </a:r>
            <a:br/>
            <a:r>
              <a:t>  id: int</a:t>
            </a:r>
            <a:br/>
            <a:r>
              <a:t>  position: Point3D   # x,y,z (m)</a:t>
            </a:r>
            <a:br/>
            <a:r>
              <a:t>  velocity: np.ndarray # [vx,vy,vz]</a:t>
            </a:r>
            <a:br/>
            <a:r>
              <a:t>  heading: float       # rad</a:t>
            </a:r>
            <a:br/>
            <a:r>
              <a:t>  drone_type: str      # quadrotor</a:t>
            </a:r>
            <a:br/>
            <a:r>
              <a:t>  max_speed: float = 15.0</a:t>
            </a:r>
            <a:br/>
            <a:r>
              <a:t>  max_accel: float = 5.0</a:t>
            </a:r>
            <a:br/>
            <a:r>
              <a:t>  min_alt: float   = 5.0</a:t>
            </a:r>
            <a:br/>
            <a:r>
              <a:t>  max_alt: float   = 120.0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3840480"/>
            <a:ext cx="5120640" cy="219456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9319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FF88"/>
                </a:solidFill>
                <a:latin typeface="Malgun Gothic"/>
              </a:defRPr>
            </a:pPr>
            <a:r>
              <a:t>Point3D (= SC2 Point2)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51960"/>
            <a:ext cx="4754880" cy="1645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29768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onsolas"/>
              </a:defRPr>
            </a:pPr>
            <a:r>
              <a:t>class Point3D:</a:t>
            </a:r>
            <a:br/>
            <a:r>
              <a:t>  x, y, z: float</a:t>
            </a:r>
            <a:br/>
            <a:r>
              <a:t>  # distance_to()          -&gt; 3D Euclidean</a:t>
            </a:r>
            <a:br/>
            <a:r>
              <a:t>  # horizontal_distance_to() -&gt; 2D</a:t>
            </a:r>
            <a:br/>
            <a:r>
              <a:t>  # to_array()             -&gt; numpy vector</a:t>
            </a:r>
            <a:br/>
            <a:r>
              <a:t>  # towards()              -&gt; directional move</a:t>
            </a:r>
            <a:br/>
            <a:r>
              <a:t>  # offset()               -&gt; coordinate shift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1097280"/>
            <a:ext cx="5760720" cy="219456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FF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11887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464"/>
                </a:solidFill>
                <a:latin typeface="Malgun Gothic"/>
              </a:defRPr>
            </a:pPr>
            <a:r>
              <a:t>CollisionAlert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1508760"/>
            <a:ext cx="5394960" cy="1645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1554480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onsolas"/>
              </a:defRPr>
            </a:pPr>
            <a:r>
              <a:t>class CollisionAlert:</a:t>
            </a:r>
            <a:br/>
            <a:r>
              <a:t>  drone_a_id: int</a:t>
            </a:r>
            <a:br/>
            <a:r>
              <a:t>  drone_b_id: int</a:t>
            </a:r>
            <a:br/>
            <a:r>
              <a:t>  ttc: float        # time to collision</a:t>
            </a:r>
            <a:br/>
            <a:r>
              <a:t>  min_distance: float</a:t>
            </a:r>
            <a:br/>
            <a:r>
              <a:t>  conflict_point: Point3D</a:t>
            </a:r>
            <a:br/>
            <a:r>
              <a:t>  severity: str</a:t>
            </a:r>
            <a:br/>
            <a:r>
              <a:t>   # "warning" | "critical" | "imminent"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60720" y="3474720"/>
            <a:ext cx="5760720" cy="164592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FFC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356616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C832"/>
                </a:solidFill>
                <a:latin typeface="Malgun Gothic"/>
              </a:defRPr>
            </a:pPr>
            <a:r>
              <a:t>FlightCorridor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3886200"/>
            <a:ext cx="5394960" cy="10972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393192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onsolas"/>
              </a:defRPr>
            </a:pPr>
            <a:r>
              <a:t>class FlightCorridor:</a:t>
            </a:r>
            <a:br/>
            <a:r>
              <a:t>  corridor_id: str</a:t>
            </a:r>
            <a:br/>
            <a:r>
              <a:t>  waypoints: List[Point3D]</a:t>
            </a:r>
            <a:br/>
            <a:r>
              <a:t>  width: float = 20.0</a:t>
            </a:r>
            <a:br/>
            <a:r>
              <a:t>  altitude_layer: str  # low|medium|high</a:t>
            </a:r>
            <a:br/>
            <a:r>
              <a:t>  bidirectional: bool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720" y="5303520"/>
            <a:ext cx="5760720" cy="77724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539496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78BFA"/>
                </a:solidFill>
                <a:latin typeface="Malgun Gothic"/>
              </a:defRPr>
            </a:pPr>
            <a:r>
              <a:t>공간 인덱싱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56235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  KDTree3D -- O(log n) 이웃 탐색    |    VoxelGrid -- 3D 공간 분할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309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onsolas"/>
              </a:defRPr>
            </a:pPr>
            <a:r>
              <a:t>Swarm Drone Airspace 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309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onsolas"/>
              </a:defRPr>
            </a:pPr>
            <a: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8FF"/>
                </a:solidFill>
                <a:latin typeface="Malgun Gothic"/>
              </a:defRPr>
            </a:pPr>
            <a:r>
              <a:t>Fail-Safe &amp; 자기 복구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SC2 봇의 RuntimeSelfHealing을 드론의 안전 필수 시스템으로 전환합니다.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3566160" cy="219456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FF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6464"/>
                </a:solidFill>
                <a:latin typeface="Malgun Gothic"/>
              </a:defRPr>
            </a:pPr>
            <a:r>
              <a:t>배터리 보호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algun Gothic"/>
              </a:defRPr>
            </a:pPr>
            <a:r>
              <a:t>  30% -&gt; 귀환 경고</a:t>
            </a:r>
            <a:br/>
            <a:r>
              <a:t>  20% -&gt; 강제 귀환 (RTH)</a:t>
            </a:r>
            <a:br/>
            <a:r>
              <a:t>  10% -&gt; 긴급 착륙</a:t>
            </a:r>
            <a:br/>
            <a:r>
              <a:t>  잔여 비행 시간 계산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371600"/>
            <a:ext cx="3566160" cy="219456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FFC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463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C832"/>
                </a:solidFill>
                <a:latin typeface="Malgun Gothic"/>
              </a:defRPr>
            </a:pPr>
            <a:r>
              <a:t>통신 두절 대응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82880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algun Gothic"/>
              </a:defRPr>
            </a:pPr>
            <a:r>
              <a:t>  3초 -&gt; 자율 Boids 모드</a:t>
            </a:r>
            <a:br/>
            <a:r>
              <a:t>  10초 -&gt; 호버링 대기</a:t>
            </a:r>
            <a:br/>
            <a:r>
              <a:t>  30초 -&gt; 자동 귀환</a:t>
            </a:r>
            <a:br/>
            <a:r>
              <a:t>  메쉬 네트워크 우회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566160" cy="219456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463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8FF"/>
                </a:solidFill>
                <a:latin typeface="Malgun Gothic"/>
              </a:defRPr>
            </a:pPr>
            <a:r>
              <a:t>GPS 상실 대응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82880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algun Gothic"/>
              </a:defRPr>
            </a:pPr>
            <a:r>
              <a:t>  IMU 관성 항법 전환</a:t>
            </a:r>
            <a:br/>
            <a:r>
              <a:t>  이웃 드론 상대 위치</a:t>
            </a:r>
            <a:br/>
            <a:r>
              <a:t>  시각적 오도메트리</a:t>
            </a:r>
            <a:br/>
            <a:r>
              <a:t>  안전 착륙 시퀀스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749039"/>
            <a:ext cx="5486400" cy="228600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840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FF88"/>
                </a:solidFill>
                <a:latin typeface="Malgun Gothic"/>
              </a:defRPr>
            </a:pPr>
            <a:r>
              <a:t>SC2 -&gt; 드론 Fail-Safe 매핑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48640" y="4206240"/>
          <a:ext cx="51206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</a:tblGrid>
              <a:tr h="31089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7DD3FC"/>
                          </a:solidFill>
                          <a:latin typeface="Malgun Gothic"/>
                        </a:defRPr>
                      </a:pPr>
                      <a:r>
                        <a:t>SC2 SelfHealing</a:t>
                      </a:r>
                    </a:p>
                  </a:txBody>
                  <a:tcPr anchor="ctr" marL="73152" marT="18288" marB="18288"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7DD3FC"/>
                          </a:solidFill>
                          <a:latin typeface="Malgun Gothic"/>
                        </a:defRPr>
                      </a:pPr>
                      <a:r>
                        <a:t>드론 Fail-Safe</a:t>
                      </a:r>
                    </a:p>
                  </a:txBody>
                  <a:tcPr anchor="ctr" marL="73152" marT="18288" marB="18288">
                    <a:solidFill>
                      <a:srgbClr val="121A2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EC5"/>
                          </a:solidFill>
                          <a:latin typeface="Malgun Gothic"/>
                        </a:defRPr>
                      </a:pPr>
                      <a:r>
                        <a:t>경제 정체 감지</a:t>
                      </a:r>
                    </a:p>
                  </a:txBody>
                  <a:tcPr anchor="ctr" marL="73152" marT="18288" marB="18288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EC5"/>
                          </a:solidFill>
                          <a:latin typeface="Malgun Gothic"/>
                        </a:defRPr>
                      </a:pPr>
                      <a:r>
                        <a:t>배터리 소진 감지</a:t>
                      </a:r>
                    </a:p>
                  </a:txBody>
                  <a:tcPr anchor="ctr" marL="73152" marT="18288" marB="18288">
                    <a:solidFill>
                      <a:srgbClr val="0F172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EC5"/>
                          </a:solidFill>
                          <a:latin typeface="Malgun Gothic"/>
                        </a:defRPr>
                      </a:pPr>
                      <a:r>
                        <a:t>생산 중단 복구</a:t>
                      </a:r>
                    </a:p>
                  </a:txBody>
                  <a:tcPr anchor="ctr" marL="73152" marT="18288" marB="18288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EC5"/>
                          </a:solidFill>
                          <a:latin typeface="Malgun Gothic"/>
                        </a:defRPr>
                      </a:pPr>
                      <a:r>
                        <a:t>모터 페일오버</a:t>
                      </a:r>
                    </a:p>
                  </a:txBody>
                  <a:tcPr anchor="ctr" marL="73152" marT="18288" marB="18288">
                    <a:solidFill>
                      <a:srgbClr val="0F172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EC5"/>
                          </a:solidFill>
                          <a:latin typeface="Malgun Gothic"/>
                        </a:defRPr>
                      </a:pPr>
                      <a:r>
                        <a:t>매니저 크래시 복구</a:t>
                      </a:r>
                    </a:p>
                  </a:txBody>
                  <a:tcPr anchor="ctr" marL="73152" marT="18288" marB="18288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EC5"/>
                          </a:solidFill>
                          <a:latin typeface="Malgun Gothic"/>
                        </a:defRPr>
                      </a:pPr>
                      <a:r>
                        <a:t>센서 이중화 전환</a:t>
                      </a:r>
                    </a:p>
                  </a:txBody>
                  <a:tcPr anchor="ctr" marL="73152" marT="18288" marB="18288">
                    <a:solidFill>
                      <a:srgbClr val="0F172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EC5"/>
                          </a:solidFill>
                          <a:latin typeface="Malgun Gothic"/>
                        </a:defRPr>
                      </a:pPr>
                      <a:r>
                        <a:t>자원 낭비 감지</a:t>
                      </a:r>
                    </a:p>
                  </a:txBody>
                  <a:tcPr anchor="ctr" marL="73152" marT="18288" marB="18288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EC5"/>
                          </a:solidFill>
                          <a:latin typeface="Malgun Gothic"/>
                        </a:defRPr>
                      </a:pPr>
                      <a:r>
                        <a:t>비효율 경로 재계산</a:t>
                      </a:r>
                    </a:p>
                  </a:txBody>
                  <a:tcPr anchor="ctr" marL="73152" marT="18288" marB="18288"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6217920" y="3749039"/>
            <a:ext cx="5303520" cy="228600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8404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78BFA"/>
                </a:solidFill>
                <a:latin typeface="Malgun Gothic"/>
              </a:defRPr>
            </a:pPr>
            <a:r>
              <a:t>안전 규정 준수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20624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algun Gothic"/>
              </a:defRPr>
            </a:pPr>
            <a:r>
              <a:t>  KALIS -- 한국 무인기 안전 기준</a:t>
            </a:r>
            <a:br/>
            <a:r>
              <a:t>  고도 제한 -- 120m 이하 (법적)</a:t>
            </a:r>
            <a:br/>
            <a:r>
              <a:t>  비행 금지 구역 -- GeoFence 적용</a:t>
            </a:r>
            <a:br/>
            <a:r>
              <a:t>  기체 식별 -- Remote ID 브로드캐스트</a:t>
            </a:r>
            <a:br/>
            <a:r>
              <a:t>  Fail-Safe -- 이중 센서 + 자동 귀환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309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onsolas"/>
              </a:defRPr>
            </a:pPr>
            <a:r>
              <a:t>Swarm Drone Airspace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6309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onsolas"/>
              </a:defRPr>
            </a:pPr>
            <a: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8FF"/>
                </a:solidFill>
                <a:latin typeface="Malgun Gothic"/>
              </a:defRPr>
            </a:pPr>
            <a:r>
              <a:t>결론 &amp; 개발 로드맵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5120640" cy="384048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FF"/>
                </a:solidFill>
                <a:latin typeface="Malgun Gothic"/>
              </a:defRPr>
            </a:pPr>
            <a:r>
              <a:t>구현 완료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algun Gothic"/>
              </a:defRPr>
            </a:pPr>
            <a:r>
              <a:t>V  Boids 3D 컨트롤러 (8-Force)</a:t>
            </a:r>
            <a:br/>
            <a:r>
              <a:t>V  TTC 충돌 예측 (3단계 경보)</a:t>
            </a:r>
            <a:br/>
            <a:r>
              <a:t>V  가상 비행 회랑 (3 고도층)</a:t>
            </a:r>
            <a:br/>
            <a:r>
              <a:t>V  Authority Mode FSM (5 상태)</a:t>
            </a:r>
            <a:br/>
            <a:r>
              <a:t>V  DroneState / Point3D 데이터 모델</a:t>
            </a:r>
            <a:br/>
            <a:r>
              <a:t>V  KDTree3D 공간 인덱싱</a:t>
            </a:r>
            <a:br/>
            <a:r>
              <a:t>V  VoxelGrid 3D 공간 분할</a:t>
            </a:r>
            <a:br/>
            <a:r>
              <a:t>V  3D 시각화 데모 (Plotly, Ursina)</a:t>
            </a:r>
            <a:br/>
            <a:r>
              <a:t>V  애니메이션 GIF 5종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097280"/>
            <a:ext cx="5760720" cy="274320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FFC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11887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Malgun Gothic"/>
              </a:defRPr>
            </a:pPr>
            <a:r>
              <a:t>3단계 개발 로드맵</a:t>
            </a:r>
          </a:p>
        </p:txBody>
      </p:sp>
      <p:sp>
        <p:nvSpPr>
          <p:cNvPr id="9" name="Oval 8"/>
          <p:cNvSpPr/>
          <p:nvPr/>
        </p:nvSpPr>
        <p:spPr>
          <a:xfrm>
            <a:off x="6035040" y="1600200"/>
            <a:ext cx="411480" cy="411480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164592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S1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6002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0E0E0"/>
                </a:solidFill>
                <a:latin typeface="Malgun Gothic"/>
              </a:defRPr>
            </a:pPr>
            <a:r>
              <a:t>Algorithm (현재)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Boids 3D + TTC + Corridor</a:t>
            </a:r>
            <a:br/>
            <a:r>
              <a:t>Python 시뮬레이션 검증 완료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0" y="2331720"/>
            <a:ext cx="411480" cy="41148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23774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S2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3317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0E0E0"/>
                </a:solidFill>
                <a:latin typeface="Malgun Gothic"/>
              </a:defRPr>
            </a:pPr>
            <a:r>
              <a:t>Simulation (다음)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560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ROS 2 + Gazebo 물리 시뮬</a:t>
            </a:r>
            <a:br/>
            <a:r>
              <a:t>바람/장애물/센서 노이즈 적용</a:t>
            </a:r>
          </a:p>
        </p:txBody>
      </p:sp>
      <p:sp>
        <p:nvSpPr>
          <p:cNvPr id="17" name="Oval 16"/>
          <p:cNvSpPr/>
          <p:nvPr/>
        </p:nvSpPr>
        <p:spPr>
          <a:xfrm>
            <a:off x="6035040" y="3063240"/>
            <a:ext cx="411480" cy="411480"/>
          </a:xfrm>
          <a:prstGeom prst="ellipse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310896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S3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0632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0E0E0"/>
                </a:solidFill>
                <a:latin typeface="Malgun Gothic"/>
              </a:defRPr>
            </a:pPr>
            <a:r>
              <a:t>Real Deploy (목표)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291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Pixhawk + Raspberry Pi</a:t>
            </a:r>
            <a:br/>
            <a:r>
              <a:t>MAVLink 통신, 실외 비행 테스트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0" y="4023360"/>
            <a:ext cx="5760720" cy="91440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0" y="411480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FF88"/>
                </a:solidFill>
                <a:latin typeface="Malgun Gothic"/>
              </a:defRPr>
            </a:pPr>
            <a:r>
              <a:t>프로젝트 규모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3891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C8FF"/>
                </a:solidFill>
                <a:latin typeface="Consolas"/>
              </a:defRPr>
            </a:pPr>
            <a:r>
              <a:t>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6634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Boids 힘 벡터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43891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C832"/>
                </a:solidFill>
                <a:latin typeface="Consolas"/>
              </a:defRPr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46634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고도층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43891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FF88"/>
                </a:solidFill>
                <a:latin typeface="Consolas"/>
              </a:defRPr>
            </a:pPr>
            <a:r>
              <a:t>3단계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46634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경보 체계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43891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A78BFA"/>
                </a:solidFill>
                <a:latin typeface="Consolas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46634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Authority 모드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5303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Malgun Gothic"/>
              </a:defRPr>
            </a:pPr>
            <a:r>
              <a:t>Thank you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0" y="5760720"/>
            <a:ext cx="1463040" cy="292608"/>
          </a:xfrm>
          <a:prstGeom prst="round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B1120"/>
                </a:solidFill>
                <a:latin typeface="Consolas"/>
              </a:defRPr>
            </a:pPr>
            <a:r>
              <a:t>Boids 3D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06240" y="5760720"/>
            <a:ext cx="1463040" cy="292608"/>
          </a:xfrm>
          <a:prstGeom prst="round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B1120"/>
                </a:solidFill>
                <a:latin typeface="Consolas"/>
              </a:defRPr>
            </a:pPr>
            <a:r>
              <a:t>UTM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0" y="5760720"/>
            <a:ext cx="1463040" cy="292608"/>
          </a:xfrm>
          <a:prstGeom prst="round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B1120"/>
                </a:solidFill>
                <a:latin typeface="Consolas"/>
              </a:defRPr>
            </a:pPr>
            <a:r>
              <a:t>TTC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32320" y="5760720"/>
            <a:ext cx="1463040" cy="292608"/>
          </a:xfrm>
          <a:prstGeom prst="roundRect">
            <a:avLst/>
          </a:prstGeom>
          <a:solidFill>
            <a:srgbClr val="FF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B1120"/>
                </a:solidFill>
                <a:latin typeface="Consolas"/>
              </a:defRPr>
            </a:pPr>
            <a:r>
              <a:t>Fail-Safe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95360" y="5760720"/>
            <a:ext cx="1463040" cy="292608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B1120"/>
                </a:solidFill>
                <a:latin typeface="Consolas"/>
              </a:defRPr>
            </a:pPr>
            <a:r>
              <a:t>Sim-to-Real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309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onsolas"/>
              </a:defRPr>
            </a:pPr>
            <a:r>
              <a:t>Swarm Drone Airspace Control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6309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onsolas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