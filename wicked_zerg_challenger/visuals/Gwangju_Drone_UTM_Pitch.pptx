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2926080" cy="310896"/>
          </a:xfrm>
          <a:prstGeom prst="round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INVESTOR PITCH DECK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도시 드론 교통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8E8"/>
                </a:solidFill>
                <a:latin typeface="Malgun Gothic"/>
              </a:defRPr>
            </a:pPr>
            <a:r>
              <a:t>광주광역시 시범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CC"/>
                </a:solidFill>
                <a:latin typeface="Malgun Gothic"/>
              </a:defRPr>
            </a:pPr>
            <a:r>
              <a:t>"세계 최초 도시 규모 이동식 레이더 망"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8B8"/>
                </a:solidFill>
                <a:latin typeface="Consolas"/>
              </a:defRPr>
            </a:pPr>
            <a:r>
              <a:t>2026–2036  |  광주광역시, 대한민국</a:t>
            </a:r>
          </a:p>
        </p:txBody>
      </p:sp>
      <p:sp>
        <p:nvSpPr>
          <p:cNvPr id="8" name="Hexagon 7"/>
          <p:cNvSpPr/>
          <p:nvPr/>
        </p:nvSpPr>
        <p:spPr>
          <a:xfrm rot="1800000">
            <a:off x="8686800" y="1097280"/>
            <a:ext cx="2560320" cy="2560320"/>
          </a:xfrm>
          <a:prstGeom prst="hexagon">
            <a:avLst/>
          </a:prstGeom>
          <a:noFill/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 rot="1800000">
            <a:off x="9326880" y="1828800"/>
            <a:ext cx="1463040" cy="1463040"/>
          </a:xfrm>
          <a:prstGeom prst="hexagon">
            <a:avLst/>
          </a:prstGeom>
          <a:noFill/>
          <a:ln w="19050">
            <a:solidFill>
              <a:srgbClr val="008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 rot="900000">
            <a:off x="8229600" y="3474720"/>
            <a:ext cx="1097280" cy="1097280"/>
          </a:xfrm>
          <a:prstGeom prst="hexagon">
            <a:avLst/>
          </a:prstGeom>
          <a:noFill/>
          <a:ln w="1905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894"/>
                </a:solidFill>
                <a:latin typeface="Consolas"/>
              </a:defRPr>
            </a:pPr>
            <a:r>
              <a:t>GWANGJU DRONE UTM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8"/>
                </a:solidFill>
                <a:latin typeface="Consolas"/>
              </a:defRPr>
            </a:pPr>
            <a: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10896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보이지 않는 위협:</a:t>
            </a:r>
            <a:br/>
            <a:r>
              <a:t>소형 드론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83280" cy="13716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Malgun Gothic"/>
              </a:defRPr>
            </a:pPr>
            <a:r>
              <a:t>지상 교통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신호등, GPS, 카메라로 제어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286000"/>
            <a:ext cx="3383280" cy="13716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2468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488FF"/>
                </a:solidFill>
                <a:latin typeface="Malgun Gothic"/>
              </a:defRPr>
            </a:pPr>
            <a:r>
              <a:t>항공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926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레이더, 관제탑, IFR/VFR 규정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286000"/>
            <a:ext cx="3383280" cy="13716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468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45"/>
                </a:solidFill>
                <a:latin typeface="Malgun Gothic"/>
              </a:defRPr>
            </a:pPr>
            <a:r>
              <a:t>드론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제어 시스템 없음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Consolas"/>
              </a:defRPr>
            </a:pPr>
            <a:r>
              <a:t>문제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소형 드론 (&lt;5kg)은 레이더에 보이지 않음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  <a:latin typeface="Consolas"/>
              </a:defRPr>
            </a:pPr>
            <a:r>
              <a:t>위험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434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충돌, 사생활 침해, 불법 활동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onsolas"/>
              </a:defRPr>
            </a:pPr>
            <a:r>
              <a:t>공백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937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10만대+ 소비자 드론에 대한 실시간 추적 없음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8B8"/>
                </a:solidFill>
                <a:latin typeface="Malgun Gothic"/>
              </a:defRPr>
            </a:pPr>
            <a:r>
              <a:t>공역 사고의 80%가 탐지되지 않은 소형 드론 관련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894"/>
                </a:solidFill>
                <a:latin typeface="Consolas"/>
              </a:defRPr>
            </a:pPr>
            <a:r>
              <a:t>GWANGJU DRONE UTM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8"/>
                </a:solidFill>
                <a:latin typeface="Consolas"/>
              </a:defRPr>
            </a:pPr>
            <a: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10896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이동식 레이더 망:</a:t>
            </a:r>
            <a:br/>
            <a:r>
              <a:t>하늘의 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CC"/>
                </a:solidFill>
                <a:latin typeface="Malgun Gothic"/>
              </a:defRPr>
            </a:pPr>
            <a:r>
              <a:t>혁신: 100대 레이더 장착 드론이 광주 24/7 순찰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2560320" cy="128016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FFCC"/>
                </a:solidFill>
                <a:latin typeface="Consolas"/>
              </a:defRPr>
            </a:pPr>
            <a:r>
              <a:t>501 km²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83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커버리지</a:t>
            </a:r>
            <a:br/>
            <a:r>
              <a:t>(전체 광역시)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743200"/>
            <a:ext cx="2560320" cy="128016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E676"/>
                </a:solidFill>
                <a:latin typeface="Consolas"/>
              </a:defRPr>
            </a:pPr>
            <a:r>
              <a:t>99.9%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383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탐지 정확도</a:t>
            </a:r>
            <a:br/>
            <a:r>
              <a:t>(100g 이상)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743200"/>
            <a:ext cx="2560320" cy="128016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9800"/>
                </a:solidFill>
                <a:latin typeface="Consolas"/>
              </a:defRPr>
            </a:pPr>
            <a:r>
              <a:t>&lt;5초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383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실시간 경보</a:t>
            </a:r>
            <a:br/>
            <a:r>
              <a:t>(당국 전송)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743200"/>
            <a:ext cx="2560320" cy="128016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B388FF"/>
                </a:solidFill>
                <a:latin typeface="Consolas"/>
              </a:defRPr>
            </a:pPr>
            <a:r>
              <a:t>AI 기반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3383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군집 지능</a:t>
            </a:r>
            <a:br/>
            <a:r>
              <a:t>(저그봇 프로)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10515600" cy="9144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80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algun Gothic"/>
              </a:defRPr>
            </a:pPr>
            <a:r>
              <a:t>세계 최초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46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어떤 도시도 규모별 이동식 레이더 망을 배치한 적 없음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8B8"/>
                </a:solidFill>
                <a:latin typeface="Malgun Gothic"/>
              </a:defRPr>
            </a:pPr>
            <a:r>
              <a:t>가상 군집에서 실제 세계 안전으로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894"/>
                </a:solidFill>
                <a:latin typeface="Consolas"/>
              </a:defRPr>
            </a:pPr>
            <a:r>
              <a:t>GWANGJU DRONE UTM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8"/>
                </a:solidFill>
                <a:latin typeface="Consolas"/>
              </a:defRPr>
            </a:pPr>
            <a: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10896"/>
          </a:xfrm>
          <a:prstGeom prst="round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TECHNOLOGY FOUNDATION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검증된 게임 AI 기반 구축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029200" cy="32004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388FF"/>
                </a:solidFill>
                <a:latin typeface="Consolas"/>
              </a:defRPr>
            </a:pPr>
            <a:r>
              <a:t>출처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286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군집 저그봇 프로 (SC2 AI, 75% 승률)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388FF"/>
                </a:solidFill>
                <a:latin typeface="Consolas"/>
              </a:defRPr>
            </a:pPr>
            <a:r>
              <a:t>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971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200+ 유닛 실시간 군집 제어 (&lt;10ms)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388FF"/>
                </a:solidFill>
                <a:latin typeface="Consolas"/>
              </a:defRPr>
            </a:pPr>
            <a:r>
              <a:t>알고리즘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6576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충돌 회피, 순찰 라우팅, 적응형 학습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388FF"/>
                </a:solidFill>
                <a:latin typeface="Consolas"/>
              </a:defRPr>
            </a:pPr>
            <a:r>
              <a:t>전환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343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가상 → 시뮬레이션 → 실제 하드웨어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103120"/>
            <a:ext cx="5303520" cy="13716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CC"/>
                </a:solidFill>
                <a:latin typeface="Malgun Gothic"/>
              </a:defRPr>
            </a:pPr>
            <a:r>
              <a:t>왜 게이밍 AI인가?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복잡한 다중 에이전트 시스템을 검증하는 가장 빠른 방법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749039"/>
            <a:ext cx="5303520" cy="13716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algun Gothic"/>
              </a:defRPr>
            </a:pPr>
            <a:r>
              <a:t>AI Arena 실적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3891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상위 10% 순위 (다이아-마스터급)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8B8"/>
                </a:solidFill>
                <a:latin typeface="Malgun Gothic"/>
              </a:defRPr>
            </a:pPr>
            <a:r>
              <a:t>검증된 알고리즘, 실제 배치를 위해 100배 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894"/>
                </a:solidFill>
                <a:latin typeface="Consolas"/>
              </a:defRPr>
            </a:pPr>
            <a:r>
              <a:t>GWANGJU DRONE UTM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8"/>
                </a:solidFill>
                <a:latin typeface="Consolas"/>
              </a:defRPr>
            </a:pPr>
            <a: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10896"/>
          </a:xfrm>
          <a:prstGeom prst="round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3계층 아키텍처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474720" cy="34747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CC"/>
                </a:solidFill>
                <a:latin typeface="Consolas"/>
              </a:defRPr>
            </a:pPr>
            <a:r>
              <a:t>Layer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순찰 드론 (100대)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Malgun Gothic"/>
              </a:defRPr>
            </a:pPr>
            <a:r>
              <a:t>• 레이더 장착 쿼드콥터 (20kg 페이로드)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1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Malgun Gothic"/>
              </a:defRPr>
            </a:pPr>
            <a:r>
              <a:t>• 4시간 비행, 자동 재충전 스테이션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Malgun Gothic"/>
              </a:defRPr>
            </a:pPr>
            <a:r>
              <a:t>• 메시 네트워크 (5G/6G 백업)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828800"/>
            <a:ext cx="3474720" cy="34747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onsolas"/>
              </a:defRPr>
            </a:pPr>
            <a:r>
              <a:t>Layer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관제 센터 (광주시청)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Malgun Gothic"/>
              </a:defRPr>
            </a:pPr>
            <a:r>
              <a:t>• AI 조정 엔진 (군집 지능)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47471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Malgun Gothic"/>
              </a:defRPr>
            </a:pPr>
            <a:r>
              <a:t>• 실시간 3D 디지털 트윈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Malgun Gothic"/>
              </a:defRPr>
            </a:pPr>
            <a:r>
              <a:t>• 경찰·소방·항공 당국 통합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828800"/>
            <a:ext cx="3474720" cy="34747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onsolas"/>
              </a:defRPr>
            </a:pPr>
            <a:r>
              <a:t>Layer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엣지 컴퓨팅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Malgun Gothic"/>
              </a:defRPr>
            </a:pPr>
            <a:r>
              <a:t>• 드론 탑재 AI (위협 감지, 경로 계획)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347471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Malgun Gothic"/>
              </a:defRPr>
            </a:pPr>
            <a:r>
              <a:t>• 클라우드 백업 (학습, 분석, 규정 준수)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8B8"/>
                </a:solidFill>
                <a:latin typeface="Malgun Gothic"/>
              </a:defRPr>
            </a:pPr>
            <a:r>
              <a:t>분산형 + 중앙 집중식 = 중복성 + 효율성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894"/>
                </a:solidFill>
                <a:latin typeface="Consolas"/>
              </a:defRPr>
            </a:pPr>
            <a:r>
              <a:t>GWANGJU DRONE UTM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8"/>
                </a:solidFill>
                <a:latin typeface="Consolas"/>
              </a:defRPr>
            </a:pPr>
            <a: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1089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10-YEAR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algun Gothic"/>
              </a:defRPr>
            </a:pPr>
            <a:r>
              <a:t>10대 드론에서 40,000대까지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474720" cy="173736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onsolas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8B8"/>
                </a:solidFill>
                <a:latin typeface="Consolas"/>
              </a:defRPr>
            </a:pPr>
            <a:r>
              <a:t>2026-2027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SC2 AI 검증</a:t>
            </a:r>
            <a:br/>
            <a:r>
              <a:t>AI Arena Top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828800"/>
            <a:ext cx="3474720" cy="173736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onsolas"/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9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8B8"/>
                </a:solidFill>
                <a:latin typeface="Consolas"/>
              </a:defRPr>
            </a:pPr>
            <a:r>
              <a:t>2027-2028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시뮬레이션</a:t>
            </a:r>
            <a:br/>
            <a:r>
              <a:t>1,000대 Unity/ROS2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828800"/>
            <a:ext cx="3474720" cy="173736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onsolas"/>
              </a:defRPr>
            </a:pPr>
            <a: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19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8B8"/>
                </a:solidFill>
                <a:latin typeface="Consolas"/>
              </a:defRPr>
            </a:pPr>
            <a:r>
              <a:t>2028-2030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실제 시범</a:t>
            </a:r>
            <a:br/>
            <a:r>
              <a:t>10→100대 (GIST)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3474720" cy="173736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CC"/>
                </a:solidFill>
                <a:latin typeface="Consolas"/>
              </a:defRPr>
            </a:pPr>
            <a: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069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8B8"/>
                </a:solidFill>
                <a:latin typeface="Consolas"/>
              </a:defRPr>
            </a:pPr>
            <a:r>
              <a:t>2030-2032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광주 배치</a:t>
            </a:r>
            <a:br/>
            <a:r>
              <a:t>100대 도시 전역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3931920"/>
            <a:ext cx="3474720" cy="173736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4069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488FF"/>
                </a:solidFill>
                <a:latin typeface="Consolas"/>
              </a:defRPr>
            </a:pPr>
            <a:r>
              <a:t>Phase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79" y="4069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8B8"/>
                </a:solidFill>
                <a:latin typeface="Consolas"/>
              </a:defRPr>
            </a:pPr>
            <a:r>
              <a:t>2032-2034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480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상용화</a:t>
            </a:r>
            <a:br/>
            <a:r>
              <a:t>1,000대, 배송 통합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3931920"/>
            <a:ext cx="3474720" cy="173736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9" y="4069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388FF"/>
                </a:solidFill>
                <a:latin typeface="Consolas"/>
              </a:defRPr>
            </a:pPr>
            <a:r>
              <a:t>Phase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4069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8B8"/>
                </a:solidFill>
                <a:latin typeface="Consolas"/>
              </a:defRPr>
            </a:pPr>
            <a:r>
              <a:t>2034-2036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4480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전국 규모</a:t>
            </a:r>
            <a:br/>
            <a:r>
              <a:t>20K-40K대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8B8"/>
                </a:solidFill>
                <a:latin typeface="Malgun Gothic"/>
              </a:defRPr>
            </a:pPr>
            <a:r>
              <a:t>총 투자: 10년간 1,400억원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894"/>
                </a:solidFill>
                <a:latin typeface="Consolas"/>
              </a:defRPr>
            </a:pPr>
            <a:r>
              <a:t>GWANGJU DRONE UTM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8"/>
                </a:solidFill>
                <a:latin typeface="Consolas"/>
              </a:defRPr>
            </a:pPr>
            <a: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10896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PHASE 1-2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Phase 1-2: 검증 및 시뮬레이션</a:t>
            </a:r>
            <a:br/>
            <a:r>
              <a:t>(2026–2028)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3474720" cy="128016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Consolas"/>
              </a:defRPr>
            </a:pPr>
            <a: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SC2 AI 순위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560320"/>
            <a:ext cx="3474720" cy="128016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39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FFCC"/>
                </a:solidFill>
                <a:latin typeface="Consolas"/>
              </a:defRPr>
            </a:pPr>
            <a:r>
              <a:t>Unity+ROS2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39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시뮬레이터 구축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560320"/>
            <a:ext cx="3474720" cy="128016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E676"/>
                </a:solidFill>
                <a:latin typeface="Consolas"/>
              </a:defRPr>
            </a:pPr>
            <a:r>
              <a:t>1,000대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가상 테스트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06240"/>
            <a:ext cx="3474720" cy="128016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B388FF"/>
                </a:solidFill>
                <a:latin typeface="Consolas"/>
              </a:defRPr>
            </a:pPr>
            <a:r>
              <a:t>6개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핵심 알고리즘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4206240"/>
            <a:ext cx="3474720" cy="128016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39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9800"/>
                </a:solidFill>
                <a:latin typeface="Consolas"/>
              </a:defRPr>
            </a:pPr>
            <a:r>
              <a:t>22억원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투자 규모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4206240"/>
            <a:ext cx="3474720" cy="128016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488FF"/>
                </a:solidFill>
                <a:latin typeface="Consolas"/>
              </a:defRPr>
            </a:pPr>
            <a:r>
              <a:t>GIST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파트너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8B8"/>
                </a:solidFill>
                <a:latin typeface="Malgun Gothic"/>
              </a:defRPr>
            </a:pPr>
            <a:r>
              <a:t>하드웨어 투자 전 알고리즘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894"/>
                </a:solidFill>
                <a:latin typeface="Consolas"/>
              </a:defRPr>
            </a:pPr>
            <a:r>
              <a:t>GWANGJU DRONE UTM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8"/>
                </a:solidFill>
                <a:latin typeface="Consolas"/>
              </a:defRPr>
            </a:pPr>
            <a: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10896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PHASE 3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Phase 3: 실제 하드웨어 테스팅</a:t>
            </a:r>
            <a:br/>
            <a:r>
              <a:t>(2028–2030)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515600" cy="5029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59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  <a:latin typeface="Consolas"/>
              </a:defRPr>
            </a:pPr>
            <a:r>
              <a:t>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359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10대 소비자 쿼드콥터 (DJI Matrice 300)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515600" cy="5029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992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  <a:latin typeface="Consolas"/>
              </a:defRPr>
            </a:pPr>
            <a:r>
              <a:t>확장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999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100대 맞춤형 레이더 드론 (한국 방산업체 협력)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0515600" cy="5029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393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  <a:latin typeface="Consolas"/>
              </a:defRPr>
            </a:pPr>
            <a:r>
              <a:t>위치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6393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GIST 캠퍼스 (1 km²) → 광주 과학공원 (10 km²)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10515600" cy="5029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793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  <a:latin typeface="Consolas"/>
              </a:defRPr>
            </a:pPr>
            <a:r>
              <a:t>테스트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27939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충돌 회피, 순찰 라우팅, 응급 대응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10515600" cy="5029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9194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  <a:latin typeface="Consolas"/>
              </a:defRPr>
            </a:pPr>
            <a:r>
              <a:t>규제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9194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UTM 인증을 위해 국토부와 협력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5486400"/>
            <a:ext cx="6400800" cy="4114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55138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Malgun Gothic"/>
              </a:defRPr>
            </a:pPr>
            <a:r>
              <a:t>마일스톤: 한국 최초 100대 드론 야외 테스트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8B8"/>
                </a:solidFill>
                <a:latin typeface="Malgun Gothic"/>
              </a:defRPr>
            </a:pPr>
            <a:r>
              <a:t>투자: 55억원 | 기간: 24개월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894"/>
                </a:solidFill>
                <a:latin typeface="Consolas"/>
              </a:defRPr>
            </a:pPr>
            <a:r>
              <a:t>GWANGJU DRONE UTM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8"/>
                </a:solidFill>
                <a:latin typeface="Consolas"/>
              </a:defRPr>
            </a:pPr>
            <a: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10896"/>
          </a:xfrm>
          <a:prstGeom prst="round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PHASE 4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Phase 4: 도시 규모 배치</a:t>
            </a:r>
            <a:br/>
            <a:r>
              <a:t>(2030–2032)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474720" cy="128016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FFCC"/>
                </a:solidFill>
                <a:latin typeface="Consolas"/>
              </a:defRPr>
            </a:pPr>
            <a:r>
              <a:t>100대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레이더 드론</a:t>
            </a:r>
            <a:br/>
            <a:r>
              <a:t>24/7 순찰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286000"/>
            <a:ext cx="3474720" cy="128016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39" y="2423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E676"/>
                </a:solidFill>
                <a:latin typeface="Consolas"/>
              </a:defRPr>
            </a:pPr>
            <a:r>
              <a:t>10개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39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충전 스테이션</a:t>
            </a:r>
            <a:br/>
            <a:r>
              <a:t>전략적 위치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286000"/>
            <a:ext cx="3474720" cy="128016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423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Consolas"/>
              </a:defRPr>
            </a:pPr>
            <a:r>
              <a:t>99%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광역시 커버리지</a:t>
            </a:r>
            <a:br/>
            <a:r>
              <a:t>가동시간 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응용 분야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3474720" cy="100584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Malgun Gothic"/>
              </a:defRPr>
            </a:pPr>
            <a:r>
              <a:t>불법 드론 탐지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제한 구역: 공항, 군사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4389120"/>
            <a:ext cx="3474720" cy="100584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4526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Malgun Gothic"/>
              </a:defRPr>
            </a:pPr>
            <a:r>
              <a:t>교통 모니터링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4892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고속도로 사고, 정체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4389120"/>
            <a:ext cx="3474720" cy="100584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4526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Malgun Gothic"/>
              </a:defRPr>
            </a:pPr>
            <a:r>
              <a:t>응급 대응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4892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수색 및 구조, 재해 평가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8B8"/>
                </a:solidFill>
                <a:latin typeface="Malgun Gothic"/>
              </a:defRPr>
            </a:pPr>
            <a:r>
              <a:t>투자: 220억원 | 세계 최초 도시 규모 이동식 레이더 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894"/>
                </a:solidFill>
                <a:latin typeface="Consolas"/>
              </a:defRPr>
            </a:pPr>
            <a:r>
              <a:t>GWANGJU DRONE UTM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8"/>
                </a:solidFill>
                <a:latin typeface="Consolas"/>
              </a:defRPr>
            </a:pPr>
            <a: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10896"/>
          </a:xfrm>
          <a:prstGeom prst="round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PHASE 5-6: SCALE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algun Gothic"/>
              </a:defRPr>
            </a:pPr>
            <a:r>
              <a:t>Phase 5-6: 상용화 및 전국 규모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474720" cy="14630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FFCC"/>
                </a:solidFill>
                <a:latin typeface="Consolas"/>
              </a:defRPr>
            </a:pPr>
            <a:r>
              <a:t>20,000+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배치 드론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828800"/>
            <a:ext cx="3474720" cy="14630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39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E676"/>
                </a:solidFill>
                <a:latin typeface="Consolas"/>
              </a:defRPr>
            </a:pPr>
            <a:r>
              <a:t>10+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39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커버 도시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828800"/>
            <a:ext cx="3474720" cy="14630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488FF"/>
                </a:solidFill>
                <a:latin typeface="Consolas"/>
              </a:defRPr>
            </a:pPr>
            <a:r>
              <a:t>500K+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일일 비행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3474720" cy="14630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94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9800"/>
                </a:solidFill>
                <a:latin typeface="Consolas"/>
              </a:defRPr>
            </a:pPr>
            <a:r>
              <a:t>5,000+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97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창출 일자리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3657600"/>
            <a:ext cx="3474720" cy="14630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39" y="3794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Consolas"/>
              </a:defRPr>
            </a:pPr>
            <a:r>
              <a:t>5,500억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4297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연 수익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3657600"/>
            <a:ext cx="3474720" cy="14630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3794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B388FF"/>
                </a:solidFill>
                <a:latin typeface="Consolas"/>
              </a:defRPr>
            </a:pPr>
            <a:r>
              <a:t>1,100억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297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투자 규모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8B8"/>
                </a:solidFill>
                <a:latin typeface="Malgun Gothic"/>
              </a:defRPr>
            </a:pPr>
            <a:r>
              <a:t>2032-2034: 광주 확장 | 2034-2036: 서울, 부산, 인천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894"/>
                </a:solidFill>
                <a:latin typeface="Consolas"/>
              </a:defRPr>
            </a:pPr>
            <a:r>
              <a:t>GWANGJU DRONE UTM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8"/>
                </a:solidFill>
                <a:latin typeface="Consolas"/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1089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도시 드론 시장: 2035년까지 990억 달러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486400" cy="59436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CC"/>
                </a:solidFill>
                <a:latin typeface="Malgun Gothic"/>
              </a:defRPr>
            </a:pPr>
            <a:r>
              <a:t>드론 배송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920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onsolas"/>
              </a:defRPr>
            </a:pPr>
            <a:r>
              <a:t>290억$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전자상거래, 음식, 의료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5486400" cy="59436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Malgun Gothic"/>
              </a:defRPr>
            </a:pPr>
            <a:r>
              <a:t>응급 서비스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651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onsolas"/>
              </a:defRPr>
            </a:pPr>
            <a:r>
              <a:t>150억$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앰뷸런스 드론, 소방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5486400" cy="59436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algun Gothic"/>
              </a:defRPr>
            </a:pPr>
            <a:r>
              <a:t>인프라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383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onsolas"/>
              </a:defRPr>
            </a:pPr>
            <a:r>
              <a:t>120억$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383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점검, 유지보수, 측량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5486400" cy="59436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488FF"/>
                </a:solidFill>
                <a:latin typeface="Malgun Gothic"/>
              </a:defRPr>
            </a:pPr>
            <a:r>
              <a:t>UTM 시스템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114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onsolas"/>
              </a:defRPr>
            </a:pPr>
            <a:r>
              <a:t>180억$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교통 관리, 규정 준수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54880"/>
            <a:ext cx="5486400" cy="59436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46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388FF"/>
                </a:solidFill>
                <a:latin typeface="Malgun Gothic"/>
              </a:defRPr>
            </a:pPr>
            <a:r>
              <a:t>국방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846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onsolas"/>
              </a:defRPr>
            </a:pPr>
            <a:r>
              <a:t>160억$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846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국경 순찰, 감시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828800"/>
            <a:ext cx="4572000" cy="18288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011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Malgun Gothic"/>
              </a:defRPr>
            </a:pPr>
            <a:r>
              <a:t>한국 시장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5603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algun Gothic"/>
              </a:defRPr>
            </a:pPr>
            <a:r>
              <a:t>2035년까지 55조원</a:t>
            </a:r>
            <a:br/>
            <a:r>
              <a:t>(전 세계 5% 점유율)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3931920"/>
            <a:ext cx="4572000" cy="13716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4114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CC"/>
                </a:solidFill>
                <a:latin typeface="Malgun Gothic"/>
              </a:defRPr>
            </a:pPr>
            <a:r>
              <a:t>광주 기회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5720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algun Gothic"/>
              </a:defRPr>
            </a:pPr>
            <a:r>
              <a:t>선점 우위 + 정부 지원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8B8"/>
                </a:solidFill>
                <a:latin typeface="Malgun Gothic"/>
              </a:defRPr>
            </a:pPr>
            <a:r>
              <a:t>목표: 한국 시장 10% 점유율 = 연 5,500억원 수익 (2035)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894"/>
                </a:solidFill>
                <a:latin typeface="Consolas"/>
              </a:defRPr>
            </a:pPr>
            <a:r>
              <a:t>GWANGJU DRONE UTM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8"/>
                </a:solidFill>
                <a:latin typeface="Consolas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10896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REVENUE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다중 수익원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1560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920240"/>
            <a:ext cx="411480" cy="411480"/>
          </a:xfrm>
          <a:prstGeom prst="ellipse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385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101F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385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정부 계약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9385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CC"/>
                </a:solidFill>
                <a:latin typeface="Consolas"/>
              </a:defRPr>
            </a:pPr>
            <a:r>
              <a:t>연 2,200억원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385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UTM 운영, 도시 라이선싱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1051560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697480"/>
            <a:ext cx="411480" cy="4114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7157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101F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157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배송 통합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7157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onsolas"/>
              </a:defRPr>
            </a:pPr>
            <a:r>
              <a:t>연 1,650억원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715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쿠팡, 배민 협력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83280"/>
            <a:ext cx="1051560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474720"/>
            <a:ext cx="411480" cy="41148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4930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101F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4930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응급 서비스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4930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Consolas"/>
              </a:defRPr>
            </a:pPr>
            <a:r>
              <a:t>연 880억원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930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경찰, 소방, 의료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1051560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51960"/>
            <a:ext cx="411480" cy="411480"/>
          </a:xfrm>
          <a:prstGeom prst="ellipse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2702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101F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2702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데이터 서비스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2702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88FF"/>
                </a:solidFill>
                <a:latin typeface="Consolas"/>
              </a:defRPr>
            </a:pPr>
            <a:r>
              <a:t>연 550억원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2702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교통 분석, 도시 계획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937760"/>
            <a:ext cx="1051560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" y="5029200"/>
            <a:ext cx="411480" cy="41148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0474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101F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0474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기술 라이선싱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0474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388FF"/>
                </a:solidFill>
                <a:latin typeface="Consolas"/>
              </a:defRPr>
            </a:pPr>
            <a:r>
              <a:t>연 220억원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474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타 도시 수출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0" y="5760720"/>
            <a:ext cx="6675120" cy="4572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0" y="57881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Malgun Gothic"/>
              </a:defRPr>
            </a:pPr>
            <a:r>
              <a:t>10년차 총 수익: 연 5,500억원  |  수익 마진: 40%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8B8"/>
                </a:solidFill>
                <a:latin typeface="Malgun Gothic"/>
              </a:defRPr>
            </a:pPr>
            <a:r>
              <a:t>ROI: 10년간 3.9배 (1,400억원 투자 → 연 5,500억원 수익)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894"/>
                </a:solidFill>
                <a:latin typeface="Consolas"/>
              </a:defRPr>
            </a:pPr>
            <a:r>
              <a:t>GWANGJU DRONE UTM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8"/>
                </a:solidFill>
                <a:latin typeface="Consolas"/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10896"/>
          </a:xfrm>
          <a:prstGeom prst="round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STRATEGIC PARTNERSHIPS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전략적 파트너십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1560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385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CC"/>
                </a:solidFill>
                <a:latin typeface="Malgun Gothic"/>
              </a:defRPr>
            </a:pPr>
            <a:r>
              <a:t>학술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93852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GIST (AI 연구), 전남대 (항공우주)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1051560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157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Malgun Gothic"/>
              </a:defRPr>
            </a:pPr>
            <a:r>
              <a:t>정부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71576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광주시, 국토부, 한국항공우주연구원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051560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930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Malgun Gothic"/>
              </a:defRPr>
            </a:pPr>
            <a:r>
              <a:t>산업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4930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대한항공, 한화 (방산), LG U+ (5G)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60520"/>
            <a:ext cx="1051560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70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88FF"/>
                </a:solidFill>
                <a:latin typeface="Malgun Gothic"/>
              </a:defRPr>
            </a:pPr>
            <a:r>
              <a:t>물류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27024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쿠팡, 배민 (배송 통합)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1051560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47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388FF"/>
                </a:solidFill>
                <a:latin typeface="Malgun Gothic"/>
              </a:defRPr>
            </a:pPr>
            <a:r>
              <a:t>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0474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algun Gothic"/>
              </a:defRPr>
            </a:pPr>
            <a:r>
              <a:t>DJI (하드웨어), Airbus UTM (기술 교류)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69280"/>
            <a:ext cx="10515600" cy="457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715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MOU 현황: GIST (서명), 광주시 (진행 중)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8B8"/>
                </a:solidFill>
                <a:latin typeface="Malgun Gothic"/>
              </a:defRPr>
            </a:pPr>
            <a:r>
              <a:t>민관 협력 모델 (공공 60%, 민간 40% 자금)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894"/>
                </a:solidFill>
                <a:latin typeface="Consolas"/>
              </a:defRPr>
            </a:pPr>
            <a:r>
              <a:t>GWANGJU DRONE UTM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8"/>
                </a:solidFill>
                <a:latin typeface="Consolas"/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10896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REGULATORY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K-드론 규제 탐색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474720" cy="146304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CC"/>
                </a:solidFill>
                <a:latin typeface="Malgun Gothic"/>
              </a:defRPr>
            </a:pPr>
            <a:r>
              <a:t>현재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250g 이상 드론 등록 필요</a:t>
            </a:r>
            <a:br/>
            <a:r>
              <a:t>공항 주변 제한 구역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828800"/>
            <a:ext cx="3474720" cy="146304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965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Malgun Gothic"/>
              </a:defRPr>
            </a:pPr>
            <a:r>
              <a:t>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3317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군집에 대한 UTM 프레임워크 없음</a:t>
            </a:r>
            <a:br/>
            <a:r>
              <a:t>(조종자당 최대 1대)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828800"/>
            <a:ext cx="3474720" cy="146304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1965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Malgun Gothic"/>
              </a:defRPr>
            </a:pPr>
            <a:r>
              <a:t>기회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3317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UTM 샌드박스로서의 광주</a:t>
            </a:r>
            <a:br/>
            <a:r>
              <a:t>(국토부 규제 면제)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접근 방식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800"/>
                </a:solidFill>
                <a:latin typeface="Consolas"/>
              </a:defRPr>
            </a:pPr>
            <a: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규제 샌드박스 신청 (2027-2028)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CC"/>
                </a:solidFill>
                <a:latin typeface="Consolas"/>
              </a:defRPr>
            </a:pPr>
            <a: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시범 프로그램 승인 (2029)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12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onsolas"/>
              </a:defRPr>
            </a:pPr>
            <a:r>
              <a:t>Phase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212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국가 UTM 표준 (우리 시스템 기반, 2032)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8B8"/>
                </a:solidFill>
                <a:latin typeface="Malgun Gothic"/>
              </a:defRPr>
            </a:pPr>
            <a:r>
              <a:t>목표: 성공적인 시범을 통해 국가 드론 규정 형성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894"/>
                </a:solidFill>
                <a:latin typeface="Consolas"/>
              </a:defRPr>
            </a:pPr>
            <a:r>
              <a:t>GWANGJU DRONE UTM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8"/>
                </a:solidFill>
                <a:latin typeface="Consolas"/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10896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글로벌 UTM 플레이어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560320"/>
                <a:gridCol w="173736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FFCC"/>
                          </a:solidFill>
                          <a:latin typeface="Malgun Gothic"/>
                        </a:defRPr>
                      </a:pPr>
                      <a:r>
                        <a:t>지역</a:t>
                      </a:r>
                    </a:p>
                  </a:txBody>
                  <a:tcPr anchor="ctr" marL="91440" marT="36576" marB="36576">
                    <a:solidFill>
                      <a:srgbClr val="15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FFCC"/>
                          </a:solidFill>
                          <a:latin typeface="Malgun Gothic"/>
                        </a:defRPr>
                      </a:pPr>
                      <a:r>
                        <a:t>플레이어</a:t>
                      </a:r>
                    </a:p>
                  </a:txBody>
                  <a:tcPr anchor="ctr" marL="91440" marT="36576" marB="36576">
                    <a:solidFill>
                      <a:srgbClr val="15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FFCC"/>
                          </a:solidFill>
                          <a:latin typeface="Malgun Gothic"/>
                        </a:defRPr>
                      </a:pPr>
                      <a:r>
                        <a:t>초점</a:t>
                      </a:r>
                    </a:p>
                  </a:txBody>
                  <a:tcPr anchor="ctr" marL="91440" marT="36576" marB="36576">
                    <a:solidFill>
                      <a:srgbClr val="151E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미국</a:t>
                      </a:r>
                    </a:p>
                  </a:txBody>
                  <a:tcPr anchor="ctr" marL="91440" marT="36576" marB="36576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Amazon, Wing (Alphabet)</a:t>
                      </a:r>
                    </a:p>
                  </a:txBody>
                  <a:tcPr anchor="ctr" marL="91440" marT="36576" marB="36576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배송 중심</a:t>
                      </a:r>
                    </a:p>
                  </a:txBody>
                  <a:tcPr anchor="ctr" marL="91440" marT="36576" marB="36576">
                    <a:solidFill>
                      <a:srgbClr val="12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중국</a:t>
                      </a:r>
                    </a:p>
                  </a:txBody>
                  <a:tcPr anchor="ctr" marL="91440" marT="36576" marB="36576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EHang, DJI</a:t>
                      </a:r>
                    </a:p>
                  </a:txBody>
                  <a:tcPr anchor="ctr" marL="91440" marT="36576" marB="36576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하드웨어 중심</a:t>
                      </a:r>
                    </a:p>
                  </a:txBody>
                  <a:tcPr anchor="ctr" marL="91440" marT="36576" marB="36576">
                    <a:solidFill>
                      <a:srgbClr val="12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유럽</a:t>
                      </a:r>
                    </a:p>
                  </a:txBody>
                  <a:tcPr anchor="ctr" marL="91440" marT="36576" marB="36576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Airbus UTM, Skyways</a:t>
                      </a:r>
                    </a:p>
                  </a:txBody>
                  <a:tcPr anchor="ctr" marL="91440" marT="36576" marB="36576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에어택시 중심</a:t>
                      </a:r>
                    </a:p>
                  </a:txBody>
                  <a:tcPr anchor="ctr" marL="91440" marT="36576" marB="36576">
                    <a:solidFill>
                      <a:srgbClr val="12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싱가포르</a:t>
                      </a:r>
                    </a:p>
                  </a:txBody>
                  <a:tcPr anchor="ctr" marL="91440" marT="36576" marB="36576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Volocopter, Garuda</a:t>
                      </a:r>
                    </a:p>
                  </a:txBody>
                  <a:tcPr anchor="ctr" marL="91440" marT="36576" marB="36576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소규모 시범</a:t>
                      </a:r>
                    </a:p>
                  </a:txBody>
                  <a:tcPr anchor="ctr" marL="91440" marT="36576" marB="36576">
                    <a:solidFill>
                      <a:srgbClr val="121A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algun Gothic"/>
              </a:defRPr>
            </a:pPr>
            <a:r>
              <a:t>우리 우위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77440"/>
            <a:ext cx="5029200" cy="4114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4231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✦ 이동식 레이더 망 (고정 인프라 대비)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880360"/>
            <a:ext cx="5029200" cy="4114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9260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✦ AI 우선 → 벤더 비종속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383280"/>
            <a:ext cx="5029200" cy="4114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4290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✦ 도시 규모 입증 (소규모 시범 대비)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86200"/>
            <a:ext cx="5029200" cy="4114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9319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✦ 정부 협력 (민간 전용 대비)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8B8"/>
                </a:solidFill>
                <a:latin typeface="Malgun Gothic"/>
              </a:defRPr>
            </a:pPr>
            <a:r>
              <a:t>포지셔닝: 한국 국가 UTM 표준, 2040년까지 50+ 도시 수출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894"/>
                </a:solidFill>
                <a:latin typeface="Consolas"/>
              </a:defRPr>
            </a:pPr>
            <a:r>
              <a:t>GWANGJU DRONE UTM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8"/>
                </a:solidFill>
                <a:latin typeface="Consolas"/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10896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RISK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기술 및 운영 위험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475488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4545"/>
                </a:solidFill>
                <a:latin typeface="Consolas"/>
              </a:defRPr>
            </a:pPr>
            <a:r>
              <a:t>위험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385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배터리 수명 (&lt;4시간)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4545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530352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9385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Consolas"/>
              </a:defRPr>
            </a:pPr>
            <a:r>
              <a:t>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9385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10개 충전 스테이션, 핫스왑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40"/>
            <a:ext cx="475488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157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800"/>
                </a:solidFill>
                <a:latin typeface="Consolas"/>
              </a:defRPr>
            </a:pPr>
            <a:r>
              <a:t>위험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157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날씨 (비, 바람)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697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800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606040"/>
            <a:ext cx="530352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7157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Consolas"/>
              </a:defRPr>
            </a:pPr>
            <a:r>
              <a:t>완화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715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내후성 하드웨어, 자동 착륙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83280"/>
            <a:ext cx="475488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9300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  <a:latin typeface="Consolas"/>
              </a:defRPr>
            </a:pPr>
            <a:r>
              <a:t>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4930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통신 두절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383280"/>
            <a:ext cx="530352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49300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Consolas"/>
              </a:defRPr>
            </a:pPr>
            <a:r>
              <a:t>완화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4930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메시 네트워크, 자율 폴백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160520"/>
            <a:ext cx="475488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7024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488FF"/>
                </a:solidFill>
                <a:latin typeface="Consolas"/>
              </a:defRPr>
            </a:pPr>
            <a:r>
              <a:t>위험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2702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규제 지연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488FF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4160520"/>
            <a:ext cx="530352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427024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Consolas"/>
              </a:defRPr>
            </a:pPr>
            <a:r>
              <a:t>완화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2702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샌드박스 협력, 단계별 출시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937760"/>
            <a:ext cx="475488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0474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388FF"/>
                </a:solidFill>
                <a:latin typeface="Consolas"/>
              </a:defRPr>
            </a:pPr>
            <a:r>
              <a:t>위험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0474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대중 수용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5029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388FF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4937760"/>
            <a:ext cx="530352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50474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Consolas"/>
              </a:defRPr>
            </a:pPr>
            <a:r>
              <a:t>완화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50474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투명성, 개인정보 보호 장치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852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보험: $50M 책임 보장 (Phase 4+)  |  중복성: 3개 백업 시스템 (통신, 내비게이션, 전력)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8B8"/>
                </a:solidFill>
                <a:latin typeface="Malgun Gothic"/>
              </a:defRPr>
            </a:pPr>
            <a:r>
              <a:t>안전 우선: 99.99% 가동 시간 목표, 제로 사고 목표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894"/>
                </a:solidFill>
                <a:latin typeface="Consolas"/>
              </a:defRPr>
            </a:pPr>
            <a:r>
              <a:t>GWANGJU DRONE UTM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8"/>
                </a:solidFill>
                <a:latin typeface="Consolas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10896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SOCIAL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기술을 넘어: 삶의 개선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86400" cy="5029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Malgun Gothic"/>
              </a:defRPr>
            </a:pPr>
            <a:r>
              <a:t>안전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901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공항 근처 불법 드론 방지 (연 200+ 사고)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86400" cy="5029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420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  <a:latin typeface="Malgun Gothic"/>
              </a:defRPr>
            </a:pPr>
            <a:r>
              <a:t>속도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542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15분 응급 대응 (구급차 30분 대비)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5486400" cy="5029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821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algun Gothic"/>
              </a:defRPr>
            </a:pPr>
            <a:r>
              <a:t>환경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182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배송 트럭 CO2 30% 절감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486400" cy="5029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2219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488FF"/>
                </a:solidFill>
                <a:latin typeface="Malgun Gothic"/>
              </a:defRPr>
            </a:pPr>
            <a:r>
              <a:t>일자리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8221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5,000개 신규 일자리 창출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5486400" cy="5029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622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388FF"/>
                </a:solidFill>
                <a:latin typeface="Malgun Gothic"/>
              </a:defRPr>
            </a:pPr>
            <a:r>
              <a:t>혁신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462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광주를 한국의 드론 수도로 포지셔닝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커뮤니티 참여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377440"/>
            <a:ext cx="5029200" cy="82296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CC"/>
                </a:solidFill>
                <a:latin typeface="Malgun Gothic"/>
              </a:defRPr>
            </a:pPr>
            <a:r>
              <a:t>공교육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드론 안전 워크샵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383280"/>
            <a:ext cx="5029200" cy="82296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CC"/>
                </a:solidFill>
                <a:latin typeface="Malgun Gothic"/>
              </a:defRPr>
            </a:pPr>
            <a:r>
              <a:t>학생 프로그램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GIST 협력, STEM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389120"/>
            <a:ext cx="5029200" cy="82296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CC"/>
                </a:solidFill>
                <a:latin typeface="Malgun Gothic"/>
              </a:defRPr>
            </a:pPr>
            <a:r>
              <a:t>투명성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오픈 데이터 포털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8B8"/>
                </a:solidFill>
                <a:latin typeface="Malgun Gothic"/>
              </a:defRPr>
            </a:pPr>
            <a:r>
              <a:t>사람을 위한 기술, 이익만을 위한 것이 아님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894"/>
                </a:solidFill>
                <a:latin typeface="Consolas"/>
              </a:defRPr>
            </a:pPr>
            <a:r>
              <a:t>GWANGJU DRONE UTM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8"/>
                </a:solidFill>
                <a:latin typeface="Consolas"/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1089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INVESTMENT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시드 라운드: 55억원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8B8"/>
                </a:solidFill>
                <a:latin typeface="Malgun Gothic"/>
              </a:defRPr>
            </a:pPr>
            <a:r>
              <a:t>Phase 1-2 자금 조달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474720" cy="14630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Consolas"/>
              </a:defRPr>
            </a:pPr>
            <a:r>
              <a:t>55억원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요청 금액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286000"/>
            <a:ext cx="3474720" cy="14630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39" y="2423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FFCC"/>
                </a:solidFill>
                <a:latin typeface="Consolas"/>
              </a:defRPr>
            </a:pPr>
            <a:r>
              <a:t>15%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39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지분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286000"/>
            <a:ext cx="3474720" cy="14630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2423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E676"/>
                </a:solidFill>
                <a:latin typeface="Consolas"/>
              </a:defRPr>
            </a:pPr>
            <a:r>
              <a:t>367억원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평가액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3474720" cy="14630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B388FF"/>
                </a:solidFill>
                <a:latin typeface="Consolas"/>
              </a:defRPr>
            </a:pPr>
            <a:r>
              <a:t>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엔지니어링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4114800"/>
            <a:ext cx="3474720" cy="14630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39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9800"/>
                </a:solidFill>
                <a:latin typeface="Consolas"/>
              </a:defRPr>
            </a:pPr>
            <a: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39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하드웨어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4114800"/>
            <a:ext cx="3474720" cy="14630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488FF"/>
                </a:solidFill>
                <a:latin typeface="Consolas"/>
              </a:defRPr>
            </a:pPr>
            <a: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파트너십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8B8"/>
                </a:solidFill>
                <a:latin typeface="Malgun Gothic"/>
              </a:defRPr>
            </a:pPr>
            <a:r>
              <a:t>마일스톤: SC2 Top 5 (2027) | 1K 드론 시뮬 (2028) | 100대 테스트 (2030)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894"/>
                </a:solidFill>
                <a:latin typeface="Consolas"/>
              </a:defRPr>
            </a:pPr>
            <a:r>
              <a:t>GWANGJU DRONE UTM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8"/>
                </a:solidFill>
                <a:latin typeface="Consolas"/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10896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FINANCIAL PROJECTIONS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투자 수익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27432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algun Gothic"/>
              </a:defRPr>
            </a:pPr>
            <a:r>
              <a:t>시드 (55억원 @ 15% 지분)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엑시트 평가액 (2036)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5,500억원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투자자 수익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825억원 (15배)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IRR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연 31%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029200" cy="27432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CC"/>
                </a:solidFill>
                <a:latin typeface="Malgun Gothic"/>
              </a:defRPr>
            </a:pPr>
            <a:r>
              <a:t>시리즈 A (2030, 220억원 @ 10%)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엑시트 평가액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5,500억원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투자자 수익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550억원 (2.5배)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6년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46320"/>
            <a:ext cx="10698480" cy="6400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388FF"/>
                </a:solidFill>
                <a:latin typeface="Malgun Gothic"/>
              </a:defRPr>
            </a:pPr>
            <a:r>
              <a:t>엑시트 전략: IPO (2035) 또는 방산/항공 대기업 인수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8B8"/>
                </a:solidFill>
                <a:latin typeface="Malgun Gothic"/>
              </a:defRPr>
            </a:pPr>
            <a:r>
              <a:t>보수적 예측, 검증된 기술, 정부 지원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894"/>
                </a:solidFill>
                <a:latin typeface="Consolas"/>
              </a:defRPr>
            </a:pPr>
            <a:r>
              <a:t>GWANGJU DRONE UTM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8"/>
                </a:solidFill>
                <a:latin typeface="Consolas"/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0" y="731520"/>
            <a:ext cx="2926080" cy="310896"/>
          </a:xfrm>
          <a:prstGeom prst="round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80" y="1097280"/>
            <a:ext cx="11887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하늘 고속도로를</a:t>
            </a:r>
            <a:br/>
            <a:r>
              <a:t>함께 만들어요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894"/>
                </a:solidFill>
                <a:latin typeface="Consolas"/>
              </a:defRPr>
            </a:pPr>
            <a:r>
              <a:t>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광주 드론 UTM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0632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894"/>
                </a:solidFill>
                <a:latin typeface="Consolas"/>
              </a:defRPr>
            </a:pPr>
            <a:r>
              <a:t>책임자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0632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선우 (군집 저그봇 프로 창립자)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894"/>
                </a:solidFill>
                <a:latin typeface="Consolas"/>
              </a:defRPr>
            </a:pPr>
            <a:r>
              <a:t>이메일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sunwoo@gwangjudrone.kr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894"/>
                </a:solidFill>
                <a:latin typeface="Consolas"/>
              </a:defRPr>
            </a:pPr>
            <a:r>
              <a:t>위치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광주광역시, 대한민국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894"/>
                </a:solidFill>
                <a:latin typeface="Consolas"/>
              </a:defRPr>
            </a:pPr>
            <a:r>
              <a:t>기간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2026–2036 (10년)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303520"/>
            <a:ext cx="8503920" cy="7315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5394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Malgun Gothic"/>
              </a:defRPr>
            </a:pPr>
            <a:r>
              <a:t>"2028년 10대에서 2036년 40,000대로.</a:t>
            </a:r>
            <a:br/>
            <a:r>
              <a:t>함께하세요."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894"/>
                </a:solidFill>
                <a:latin typeface="Consolas"/>
              </a:defRPr>
            </a:pPr>
            <a:r>
              <a:t>GWANGJU DRONE UTM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8"/>
                </a:solidFill>
                <a:latin typeface="Consolas"/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