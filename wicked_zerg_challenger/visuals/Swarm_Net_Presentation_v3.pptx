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안녕하십니까, 국립목포대학교 드론기계학과 장선우입니다.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오늘 제가 발표할 주제는 '하늘의 새로운 질서를 구축하다'입니다.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최근 드론 산업이 폭발적으로 성장하면서, 하늘 위 교통을 누가, 어떻게 관리할 것인지가 중요한 과제로 떠올랐습니다. 저는 스타크래프트 2라는 게임의 군집 제어 AI 기술을 실제 드론 공역 통제 시스템으로 전환하는 프로젝트, 'Swarm-Net'을 소개하겠습니다.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Boids 3D 알고리즘, TTC 충돌 예측, 가상 비행 회랑 등 핵심 기술을 하나씩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현재 국내에 등록된 드론 수가 90만 대를 넘어섰습니다. 연간 30% 이상 증가하고 있죠.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그런데 문제는, 이 드론들을 관리할 인프라가 심각하게 부족하다는 점입니다.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첫째, 산이나 고층 건물 때문에 레이더 전파가 닿지 않는 사각지대가 도심 저고도의 67%에 달합니다.</a:t>
            </a:r>
          </a:p>
          <a:p>
            <a:pPr>
              <a:defRPr sz="1200"/>
            </a:pPr>
            <a:r>
              <a:t>둘째, 기존 레이더 기지국은 설치에 수개월이 걸려서 긴급 상황에 즉각 대응이 불가능합니다.</a:t>
            </a:r>
          </a:p>
          <a:p>
            <a:pPr>
              <a:defRPr sz="1200"/>
            </a:pPr>
            <a:r>
              <a:t>셋째, 소형 드론은 레이더 반사 면적(RCS)이 너무 작아서 기존 항공 레이더로는 아예 탐지가 안 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그래서 저희는 완전히 새로운 접근법을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저희의 핵심 아이디어는 '관제탑을 하늘로 띄우자'라는 역발상입니다.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수억 원짜리 고정 레이더 대신, 6~12대의 통제용 군집 드론을 출격시킵니다. 이 드론들이 상공에서 육각형 대형을 자율적으로 형성하고, 서로 Mesh Network로 연결되어 거대한 레이더 돔(Dome)을 만들어냅니다.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Swarm Fleet은 대형을 유지하고, Mesh Radar는 삼각측량으로 진입 객체의 3D 좌표를 산출하며, Timer Control은 비인가 드론에 체공 시간을 할당하고 만료 시 강제 복귀시킵니다.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설치 시간? 수 분이면 전개 완료입니다.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 시스템의 두뇌를 어디서 가져왔는지 설명드리겠습니다.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저는 스타크래프트 2라는 게임에서 저그 종족 군집 AI를 직접 개발했습니다. Boids 알고리즘으로 유닛 군집 이동을 제어하고, FSM으로 우선순위를 관리하며, 강화학습으로 1만 번 이상의 게임에서 전략을 최적화했습니다.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검증된 알고리즘을 3D 공간으로 확장하고, 드론의 물리적 제약(고도 제한, 배터리, 안전 규정)을 추가하여 실제 드론 관제 시스템으로 이식한 것입니다.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표에서 보시는 것처럼, SC2의 Boids가 편대 비행 제어로, Blackboard가 Flight Data Hub로, Authority Mode가 ATC 우선순위 체계로 1:1 매핑됩니다. 게임에서 검증된 AI가 현실의 공역 관제로 재탄생한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이제 시스템의 내부 구조를 보겠습니다.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왼쪽 그림에서 전체 아키텍처를 확인하실 수 있습니다. 데이터는 4단계로 흐릅니다.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먼저 GPS, IMU, LiDAR 같은 센서에서 데이터가 들어오면, Flight Data Hub가 중앙에서 모든 상태를 관리합니다. 이것은 스타크래프트의 Blackboard 패턴과 동일한 구조입니다.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그 다음 Decision Engine이 군집 제어, 충돌 예측, 경로 관리를 수행하고, 최종적으로 MAVLink 프로토콜을 통해 각 드론에 제어 명령을 전달합니다.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오른쪽 표에서 보시는 것처럼, SC2의 모든 핵심 모듈이 드론 ATC 모듈로 1:1 매핑됩니다.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군집 드론이 어떻게 자율적으로 대형을 유지하며 비행하는지 설명드리겠습니다.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Boids 알고리즘은 새 떼의 군집 행동을 모사한 것으로, 각 드론에 8개의 힘 벡터를 적용합니다.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기존 SC2에서 사용하던 5개 힘에 고도 관련 3개 힘을 추가했습니다:</a:t>
            </a:r>
          </a:p>
          <a:p>
            <a:pPr>
              <a:defRPr sz="1200"/>
            </a:pPr>
            <a:r>
              <a:t>- Separation: 드론끼리 너무 가까우면 밀어내는 힘 (가중치 2.0)</a:t>
            </a:r>
          </a:p>
          <a:p>
            <a:pPr>
              <a:defRPr sz="1200"/>
            </a:pPr>
            <a:r>
              <a:t>- Alignment: 이웃 드론과 같은 방향으로 정렬</a:t>
            </a:r>
          </a:p>
          <a:p>
            <a:pPr>
              <a:defRPr sz="1200"/>
            </a:pPr>
            <a:r>
              <a:t>- Cohesion: 그룹 중심으로 모이는 응집력</a:t>
            </a:r>
          </a:p>
          <a:p>
            <a:pPr>
              <a:defRPr sz="1200"/>
            </a:pPr>
            <a:r>
              <a:t>- Target Seeking: 목표 웨이포인트로 이동</a:t>
            </a:r>
          </a:p>
          <a:p>
            <a:pPr>
              <a:defRPr sz="1200"/>
            </a:pPr>
            <a:r>
              <a:t>- Obstacle Avoid: 건물이나 산 같은 장애물 회피 (가중치 2.5)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여기에 신규로 추가된 3개:</a:t>
            </a:r>
          </a:p>
          <a:p>
            <a:pPr>
              <a:defRPr sz="1200"/>
            </a:pPr>
            <a:r>
              <a:t>- Altitude Hold: 지정 고도 유지 (PID 제어)</a:t>
            </a:r>
          </a:p>
          <a:p>
            <a:pPr>
              <a:defRPr sz="1200"/>
            </a:pPr>
            <a:r>
              <a:t>- Terrain Clearance: 최소 안전 고도 5m 유지 (가중치 3.0으로 가장 강력)</a:t>
            </a:r>
          </a:p>
          <a:p>
            <a:pPr>
              <a:defRPr sz="1200"/>
            </a:pPr>
            <a:r>
              <a:t>- Corridor Follow: 비행 회랑 중심선 추적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8개 힘의 합이 매 프레임마다 각 드론의 가속도로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충돌 예측 시스템에 대해 설명드리겠습니다.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기존 SC2에서는 두 유닛 사이 거리가 일정 이하면 반발력을 적용했습니다. 하지만 이 방식은 고속으로 접근하는 드론에 대해 반응이 늦습니다.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그래서 저희는 TTC, 즉 Time-to-Collision 방식으로 업그레이드했습니다. 두 드론의 상대 위치와 상대 속도를 이용해 '몇 초 후에 충돌하는지'를 계산합니다.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경보는 3단계입니다:</a:t>
            </a:r>
          </a:p>
          <a:p>
            <a:pPr>
              <a:defRPr sz="1200"/>
            </a:pPr>
            <a:r>
              <a:t>- WARNING: 5초 이내면 경로를 미세 조정합니다.</a:t>
            </a:r>
          </a:p>
          <a:p>
            <a:pPr>
              <a:defRPr sz="1200"/>
            </a:pPr>
            <a:r>
              <a:t>- CRITICAL: 3초 이내면 적극적으로 회피 기동을 시작합니다.</a:t>
            </a:r>
          </a:p>
          <a:p>
            <a:pPr>
              <a:defRPr sz="1200"/>
            </a:pPr>
            <a:r>
              <a:t>- IMMINENT: 1초 이내면 긴급 수직 회피, 즉 위아래로 즉시 벗어납니다.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방식 덕분에 기존보다 5초나 먼저 위험을 감지하고 대응할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드론이 하늘에서 무질서하게 날아다니면 안 되겠죠? 그래서 지상의 도로처럼 하늘에도 '비행 회랑'을 만들었습니다.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SC2에서 유닛 이동 최적화에 사용했던 CreepHighway의 A* 경로 알고리즘을 3D 비행 회랑으로 확장한 것입니다.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하늘을 3개 층으로 나눕니다:</a:t>
            </a:r>
          </a:p>
          <a:p>
            <a:pPr>
              <a:defRPr sz="1200"/>
            </a:pPr>
            <a:r>
              <a:t>- LOW (5~30m): 촬영이나 농업용 드론</a:t>
            </a:r>
          </a:p>
          <a:p>
            <a:pPr>
              <a:defRPr sz="1200"/>
            </a:pPr>
            <a:r>
              <a:t>- MEDIUM (30~60m): 배송이나 순찰 드론</a:t>
            </a:r>
          </a:p>
          <a:p>
            <a:pPr>
              <a:defRPr sz="1200"/>
            </a:pPr>
            <a:r>
              <a:t>- HIGH (60~120m): 장거리 이동이나 통신 중계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또한 ICAO 항공 규칙을 모사하여, 동쪽으로 가는 드론과 서쪽으로 가는 드론은 15m 고도 차이를 둡니다. 마치 도로의 중앙선처럼요.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이렇게 하면 서로 다른 방향으로 비행하는 드론들이 같은 고도에서 마주치는 것을 원천 차단할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실제 드론 관제에서 가장 중요한 것은 '긴급 상황 대응'입니다.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Authority Mode는 SC2 봇에서 이미 검증된 우선순위 체계인데요, 이것을 드론 공역 통제용으로 전환했습니다.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5개 단계가 있습니다:</a:t>
            </a:r>
          </a:p>
          <a:p>
            <a:pPr>
              <a:defRPr sz="1200"/>
            </a:pPr>
            <a:r>
              <a:t>- P0 EMERGENCY: 충돌 1초 전이거나, 배터리 부족, GPS 상실 시 모든 것을 중단하고 즉시 안전 조치를 취합니다.</a:t>
            </a:r>
          </a:p>
          <a:p>
            <a:pPr>
              <a:defRPr sz="1200"/>
            </a:pPr>
            <a:r>
              <a:t>- P1 DECONFLICT: 충돌 5초 전이면 회피 기동을 시작합니다.</a:t>
            </a:r>
          </a:p>
          <a:p>
            <a:pPr>
              <a:defRPr sz="1200"/>
            </a:pPr>
            <a:r>
              <a:t>- P2 MISSION: 촬영이나 배송 같은 임무를 수행합니다.</a:t>
            </a:r>
          </a:p>
          <a:p>
            <a:pPr>
              <a:defRPr sz="1200"/>
            </a:pPr>
            <a:r>
              <a:t>- P3 CRUISE: 위협 없이 편대 비행하며 이동합니다.</a:t>
            </a:r>
          </a:p>
          <a:p>
            <a:pPr>
              <a:defRPr sz="1200"/>
            </a:pPr>
            <a:r>
              <a:t>- P4 IDLE: 대기하거나 착륙 상태입니다.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핵심은, P0가 발생하면 어떤 상태에서든 즉시 전환된다는 것입니다. 배터리가 20% 미만이면 자동으로 EMERGENCY 모드에 진입하여 안전하게 귀환합니다.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시스템에서 사용하는 핵심 데이터 구조 4가지를 소개합니다.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DroneState는 SC2의 Unit 객체를 3D로 확장한 것으로, 드론의 위치, 속도, 헤딩 각도, 그리고 최대 속도 15m/s, 고도 제한 5~120m 같은 물리적 제약값을 담고 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Point3D는 SC2의 2D 좌표를 3차원으로 확장한 것이고, CollisionAlert는 TTC 계산 결과를 담는 경보 데이터입니다.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FlightCorridor는 3D 웨이포인트 시퀀스로 구성된 비행 회랑 정의입니다.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또한 수십~수백 대의 드론을 효율적으로 관리하기 위해 KDTree3D와 VoxelGrid로 공간 인덱싱을 수행합니다. 이웃 드론 탐색이 O(N^2)에서 O(log N)으로 개선됩니다.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드론은 하늘을 나는 만큼, 안전이 최우선입니다. SC2 봇의 RuntimeSelfHealing 기능을 드론용 Fail-Safe로 전환했습니다.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세 가지 핵심 보호 장치가 있습니다: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첫째, 배터리 보호입니다. 잔량 30%에서 경고, 20%에서 강제 귀환, 10%에서 긴급 착륙을 실행합니다.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둘째, 통신이 끊기면 3초간은 Boids 알고리즘으로 자율 비행을 유지하고, 10초 지나면 제자리에서 호버링, 30초가 넘으면 자동 귀환합니다.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셋째, GPS가 상실되면 IMU 관성항법으로 전환하고, 이웃 드론들의 상대 위치 정보를 활용합니다.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또한 한국 무인기 안전 기준(KALIS), 120m 고도 제한, GeoFence, Remote ID 등 법적 규정을 모두 준수합니다.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지금까지 설명드린 기술들이 실제로 어떻게 동작하는지 시뮬레이션 데모를 보여드리겠습니다.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관제 시나리오는 4단계입니다: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Phase 1에서 6대 드론이 육각형 대형을 자율 형성하여 레이더 돔을 전개합니다.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Phase 2에서는 이 레이더 돔에 진입하는 비인가 드론을 RF 스캔으로 탐지하고, MAC 주소를 추출하여 데이터베이스에서 허가 여부를 검증합니다.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Phase 3에서는 허가된 드론에 타이머를 할당하고, 삼각측량으로 실시간 3D 좌표를 추적합니다.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Phase 4에서 체공 시간이 만료 2분 전이 되면 경고를 보내고, 시간 초과 시 강제 복귀 명령을 내립니다. 응답이 없으면 에스코트 프로토콜이 가동됩니다.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모든 과정은 Web 기반 3D 시뮬레이터와 대시보드에서 실시간으로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실시간 대시보드의 타이머 기반 관제 흐름을 설명드립니다.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비인가 드론이 관제 공역에 진입하면 자동으로 체공 시간이 할당됩니다.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초록색, 잔여 시간 3분 이상이면 정상 비행 상태입니다. Heartbeat ACK 신호로 드론의 생존을 계속 확인합니다.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주황색, 2분 미만이 되면 경고 알림이 자동 전송됩니다.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빨간색, 시간이 0이 되면 강제 복귀(RTH) 명령이 발령됩니다.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가장 심각한 경우, 드론이 30초 이상 무응답이면 긴급 프로토콜이 발동되어 물리적으로 에스코트 드론이 출동합니다.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이 모든 과정이 중앙 서버와 드론 간 저지연 통신으로 자동화되어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Swarm-Net의 기대효과를 기존 방식과 비교해 보겠습니다.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가장 큰 차이는 배치 시간입니다. 기존 레이더는 설치에 수개월이 걸리지만, 저희 시스템은 수 분 만에 전개됩니다.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비용도 고정 설비 수억 원 대신, 드론 Fleet 유지보수 비용만 발생합니다. 유연성도 압도적입니다. 필요한 곳에 실시간으로 공역을 재구성할 수 있죠.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활용 분야를 보시면, 군사 야전에서 신속하게 방어망을 구축하거나, 공항 주변 불법 드론을 차단하거나, 재난 현장에서 긴급 공역 통제를 하는 등 다양한 시나리오에 적용 가능합니다.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드론 쇼 안전, UAM 복층 비행로 관리, 농업 방제 구역 진입 제한에도 활용됩니다.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배터리 문제는 핵심 노드의 유선 테더링과 교대 비행 프로토콜로 24시간 끊김 없는 관제가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마지막으로 개발 현황과 로드맵을 정리하겠습니다.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현재 Stage 1과 2가 완료되었습니다.</a:t>
            </a:r>
          </a:p>
          <a:p>
            <a:pPr>
              <a:defRPr sz="1200"/>
            </a:pPr>
            <a:r>
              <a:t>Stage 1에서 스타크래프트 2 환경에서 1만 번 이상의 게임으로 알고리즘을 검증했고,</a:t>
            </a:r>
          </a:p>
          <a:p>
            <a:pPr>
              <a:defRPr sz="1200"/>
            </a:pPr>
            <a:r>
              <a:t>Stage 2에서 이것을 3D 시뮬레이터로 확장하여 드론 파라미터를 적응시켰습니다.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구현이 완료된 핵심 모듈은:</a:t>
            </a:r>
          </a:p>
          <a:p>
            <a:pPr>
              <a:defRPr sz="1200"/>
            </a:pPr>
            <a:r>
              <a:t>- Boids 3D 8개 힘 벡터 컨트롤러</a:t>
            </a:r>
          </a:p>
          <a:p>
            <a:pPr>
              <a:defRPr sz="1200"/>
            </a:pPr>
            <a:r>
              <a:t>- TTC 3단계 충돌 예측</a:t>
            </a:r>
          </a:p>
          <a:p>
            <a:pPr>
              <a:defRPr sz="1200"/>
            </a:pPr>
            <a:r>
              <a:t>- 3개 고도층 비행 회랑</a:t>
            </a:r>
          </a:p>
          <a:p>
            <a:pPr>
              <a:defRPr sz="1200"/>
            </a:pPr>
            <a:r>
              <a:t>- 5단계 Authority Mode FSM</a:t>
            </a:r>
          </a:p>
          <a:p>
            <a:pPr>
              <a:defRPr sz="1200"/>
            </a:pPr>
            <a:r>
              <a:t>- Web 기반 3D 시각화 데모와 대시보드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다음 단계인 Stage 3에서는 실제 드론 5대로 편대 비행 테스트를 진행할 예정이고,</a:t>
            </a:r>
          </a:p>
          <a:p>
            <a:pPr>
              <a:defRPr sz="1200"/>
            </a:pPr>
            <a:r>
              <a:t>최종 비전인 Stage 4에서는 100대 이상의 드론이 참여하는 도시 스케일 공역 통제 시스템을 목표로 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이상으로 'Swarm-Net: 군집 UAV 기반 다이내믹 공역 통제 시스템' 발표를 마치겠습니다.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요약하면, 저희는 스타크래프트 2 게임의 군집 AI를 실제 드론 공역 통제 시스템으로 전환하는 Sim-to-Real 프로젝트를 진행했습니다.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8개 힘 벡터 Boids 3D, TTC 충돌 예측, 3개 고도층 비행 회랑, 5단계 Authority Mode 등 핵심 알고리즘을 구현하고 시뮬레이션으로 검증했습니다.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질문이 있으시면 말씀해 주시기 바랍니다.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2194560" cy="36576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CAPSTONE PROJECT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하늘의 새로운 질서를</a:t>
            </a:r>
            <a:br/>
            <a:r>
              <a:t>구축하다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Malgun Gothic"/>
              </a:defRPr>
            </a:pPr>
            <a:r>
              <a:t>군집 UAV 기반 다이내믹 공역 통제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CC"/>
                </a:solidFill>
                <a:latin typeface="Consolas"/>
              </a:defRPr>
            </a:pPr>
            <a:r>
              <a:t>Swarm-Net Airspace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8"/>
                </a:solidFill>
                <a:latin typeface="Malgun Gothic"/>
              </a:defRPr>
            </a:pPr>
            <a:r>
              <a:t>StarCraft II 군단 제어 AI 기반</a:t>
            </a:r>
            <a:br/>
            <a:r>
              <a:t>Sim-to-Real 관제(ATC) 솔루션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645920" cy="36576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Boids 3D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5212080"/>
            <a:ext cx="164592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UTM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212080"/>
            <a:ext cx="164592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TTC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12080"/>
            <a:ext cx="1645920" cy="36576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Fail-Safe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212080"/>
            <a:ext cx="1645920" cy="365760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MAVLink</a:t>
            </a:r>
          </a:p>
        </p:txBody>
      </p:sp>
      <p:sp>
        <p:nvSpPr>
          <p:cNvPr id="13" name="Hexagon 12"/>
          <p:cNvSpPr/>
          <p:nvPr/>
        </p:nvSpPr>
        <p:spPr>
          <a:xfrm rot="1800000">
            <a:off x="8686800" y="1371600"/>
            <a:ext cx="2286000" cy="2286000"/>
          </a:xfrm>
          <a:prstGeom prst="hexagon">
            <a:avLst/>
          </a:prstGeom>
          <a:noFill/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1_swarm_h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14400"/>
            <a:ext cx="4114800" cy="411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rada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35750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BACKGROUND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고정형 지상 레이더의</a:t>
            </a:r>
            <a:br/>
            <a:r>
              <a:t>구조적 한계와 급증하는 저고도 비행체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Malgun Gothic"/>
              </a:defRPr>
            </a:pPr>
            <a:r>
              <a:t>탐지 사각지대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산악·도심 고층 건물군의</a:t>
            </a:r>
            <a:br/>
            <a:r>
              <a:t>전파 음영으로 고정 레이더가</a:t>
            </a:r>
            <a:br/>
            <a:r>
              <a:t>커버하지 못하는 저고도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Malgun Gothic"/>
              </a:defRPr>
            </a:pPr>
            <a:r>
              <a:t>신속 전개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고정 인프라 설치에 수 개월 소요</a:t>
            </a:r>
            <a:br/>
            <a:r>
              <a:t>긴급 상황 시 관제망을</a:t>
            </a:r>
            <a:br/>
            <a:r>
              <a:t>즉각 전개하기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88FF"/>
                </a:solidFill>
                <a:latin typeface="Malgun Gothic"/>
              </a:defRPr>
            </a:pPr>
            <a:r>
              <a:t>소형 UAV 탐지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저고도 소형 UAV는 낮은 RCS로</a:t>
            </a:r>
            <a:br/>
            <a:r>
              <a:t>기존 항공 레이더의</a:t>
            </a:r>
            <a:br/>
            <a:r>
              <a:t>탐지 임계값 미달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CC"/>
                </a:solidFill>
                <a:latin typeface="Consolas"/>
              </a:defRPr>
            </a:pPr>
            <a:r>
              <a:t>90만+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국내 등록 드론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Consolas"/>
              </a:defRPr>
            </a:pPr>
            <a:r>
              <a:t>+30%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연간 증가율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800"/>
                </a:solidFill>
                <a:latin typeface="Consolas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관제 사각지대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194560" cy="36576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드론이 직접</a:t>
            </a:r>
            <a:br/>
            <a:r>
              <a:t>하늘의 관제탑이 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Malgun Gothic"/>
              </a:defRPr>
            </a:pPr>
            <a:r>
              <a:t>다수의 통제용 군집 UAV를 공중에 직접 배치하여</a:t>
            </a:r>
            <a:br/>
            <a:r>
              <a:t>실시간 메시 통신망을 형성하는 '이동식 관제탑(Mobile ATC)' 아키텍처</a:t>
            </a:r>
          </a:p>
        </p:txBody>
      </p:sp>
      <p:pic>
        <p:nvPicPr>
          <p:cNvPr id="6" name="Picture 5" descr="slide3_mobile_a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731520"/>
            <a:ext cx="3657600" cy="26044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3657600"/>
            <a:ext cx="914400" cy="914400"/>
          </a:xfrm>
          <a:prstGeom prst="ellipse">
            <a:avLst/>
          </a:prstGeom>
          <a:noFill/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Swarm 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6~12대 UAV가 정다각형 대형을</a:t>
            </a:r>
            <a:br/>
            <a:r>
              <a:t>자율 형성, 3D 다층 레이더 돔 전개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79" y="3657600"/>
            <a:ext cx="914400" cy="914400"/>
          </a:xfrm>
          <a:prstGeom prst="ellipse">
            <a:avLst/>
          </a:prstGeom>
          <a:noFill/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Mesh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LiDAR + RF 기반 Mesh Network</a:t>
            </a:r>
            <a:br/>
            <a:r>
              <a:t>삼각측량으로 진입 객체 3D 좌표 산출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3657600"/>
            <a:ext cx="914400" cy="914400"/>
          </a:xfrm>
          <a:prstGeom prst="ellipse">
            <a:avLst/>
          </a:prstGeom>
          <a:noFill/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Timer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비인가 UAV에 체공 시간 자동 할당</a:t>
            </a:r>
            <a:br/>
            <a:r>
              <a:t>만료 시 RTH 명령 및 에스코트 프로토콜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194560" cy="365760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CORE TECHNOLOGY: SIM-TO-REAL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가상의 강화학습 알고리즘을</a:t>
            </a:r>
            <a:br/>
            <a:r>
              <a:t>현실의 드론 관제로 이식하다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4389120" cy="1645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388FF"/>
                </a:solidFill>
                <a:latin typeface="Consolas"/>
              </a:defRPr>
            </a:pPr>
            <a:r>
              <a:t>STARCRAFT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onsolas"/>
              </a:defRPr>
            </a:pPr>
            <a:r>
              <a:t>Boids + FSM +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10,000+ 게임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CC"/>
                </a:solidFill>
                <a:latin typeface="Consolas"/>
              </a:defRPr>
            </a:pPr>
            <a:r>
              <a:t>Sim -&gt;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+ Altitude +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286000"/>
            <a:ext cx="4389120" cy="1645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CC"/>
                </a:solidFill>
                <a:latin typeface="Consolas"/>
              </a:defRPr>
            </a:pPr>
            <a:r>
              <a:t>DRONE ATC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onsolas"/>
              </a:defRPr>
            </a:pPr>
            <a:r>
              <a:t>Formation + Timer +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3D Mesh Radar Network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11480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88FF"/>
                          </a:solidFill>
                          <a:latin typeface="Malgun Gothic"/>
                        </a:defRPr>
                      </a:pPr>
                      <a:r>
                        <a:t>SC2 Component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Drone ATC Mapping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700"/>
                          </a:solidFill>
                          <a:latin typeface="Malgun Gothic"/>
                        </a:defRPr>
                      </a:pPr>
                      <a:r>
                        <a:t>전이 방법론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Boids Algorithm (군집 이동)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Formation Flight Control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Blackboard (중앙 상태 관리)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Flight Data Hub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Authority Mode (우선순위 체계)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ATC Priority Levels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IntelManager (정보 수집/탐지)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3D Radar Mesh (Sensor Fusion)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9800"/>
                          </a:solidFill>
                          <a:latin typeface="Malgun Gothic"/>
                        </a:defRPr>
                      </a:pPr>
                      <a:r>
                        <a:t>적응형 파라미터 튜닝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RL Agent (강화학습 의사결정)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Adaptive Path Optimization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9800"/>
                          </a:solidFill>
                          <a:latin typeface="Malgun Gothic"/>
                        </a:defRPr>
                      </a:pPr>
                      <a:r>
                        <a:t>적응형 파라미터 튜닝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SYSTEM ARCHITECTURE</a:t>
            </a:r>
          </a:p>
        </p:txBody>
      </p:sp>
      <p:pic>
        <p:nvPicPr>
          <p:cNvPr id="4" name="Picture 3" descr="utm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Malgun Gothic"/>
              </a:defRPr>
            </a:pPr>
            <a:r>
              <a:t>4단계 데이터 파이프라인: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737360"/>
            <a:ext cx="4114800" cy="594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Consolas"/>
              </a:defRPr>
            </a:pPr>
            <a:r>
              <a:t>1. Sensor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299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GPS, IMU, LiDAR 데이터 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423160"/>
            <a:ext cx="4114800" cy="594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onsolas"/>
              </a:defRPr>
            </a:pPr>
            <a:r>
              <a:t>2. Flight Data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15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중앙 상태 저장소 (= SC2 Blackboard)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108960"/>
            <a:ext cx="4114800" cy="594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154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388FF"/>
                </a:solidFill>
                <a:latin typeface="Consolas"/>
              </a:defRPr>
            </a:pPr>
            <a:r>
              <a:t>3. Decision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015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군집 제어 + 충돌 예측 + 경로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794760"/>
            <a:ext cx="4114800" cy="5943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840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Consolas"/>
              </a:defRPr>
            </a:pPr>
            <a:r>
              <a:t>4. MAVLink Cmd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0873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드론에 제어 명령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Malgun Gothic"/>
              </a:defRPr>
            </a:pPr>
            <a:r>
              <a:t>핵심 모듈 매핑: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9377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Boids -&gt; Boids3DController (8-Force)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PotentialFields -&gt; CollisionPredictor (TTC)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CreepHighway -&gt; CorridorManager (3 고도층)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AuthorityFSM -&gt; Authority FSM (5 상태)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BOIDS 3D SWARM CONTROL</a:t>
            </a:r>
          </a:p>
        </p:txBody>
      </p:sp>
      <p:pic>
        <p:nvPicPr>
          <p:cNvPr id="4" name="Picture 3" descr="utm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Malgun Gothic"/>
              </a:defRPr>
            </a:pPr>
            <a:r>
              <a:t>Boids 3D 군집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4114800" cy="457200"/>
          </a:xfrm>
          <a:prstGeom prst="roundRect">
            <a:avLst/>
          </a:prstGeom>
          <a:solidFill>
            <a:srgbClr val="0A1A12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Consolas"/>
              </a:defRPr>
            </a:pPr>
            <a:r>
              <a:t>F = Sum(w_i * F_i), i=1..8</a:t>
            </a:r>
          </a:p>
        </p:txBody>
      </p:sp>
      <p:sp>
        <p:nvSpPr>
          <p:cNvPr id="8" name="Oval 7"/>
          <p:cNvSpPr/>
          <p:nvPr/>
        </p:nvSpPr>
        <p:spPr>
          <a:xfrm>
            <a:off x="7635240" y="1993392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Malgun Gothic"/>
              </a:defRPr>
            </a:pPr>
            <a:r>
              <a:t>1.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20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w=2.0</a:t>
            </a:r>
          </a:p>
        </p:txBody>
      </p:sp>
      <p:sp>
        <p:nvSpPr>
          <p:cNvPr id="11" name="Oval 10"/>
          <p:cNvSpPr/>
          <p:nvPr/>
        </p:nvSpPr>
        <p:spPr>
          <a:xfrm>
            <a:off x="7635240" y="2468880"/>
            <a:ext cx="137160" cy="1371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95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  <a:latin typeface="Malgun Gothic"/>
              </a:defRPr>
            </a:pPr>
            <a:r>
              <a:t>2.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395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w=1.0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944368"/>
            <a:ext cx="137160" cy="137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8712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Malgun Gothic"/>
              </a:defRPr>
            </a:pPr>
            <a:r>
              <a:t>3. Cohesion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8712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w=1.0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3419856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3467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algun Gothic"/>
              </a:defRPr>
            </a:pPr>
            <a:r>
              <a:t>4.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467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w=1.5</a:t>
            </a:r>
          </a:p>
        </p:txBody>
      </p:sp>
      <p:sp>
        <p:nvSpPr>
          <p:cNvPr id="20" name="Oval 19"/>
          <p:cNvSpPr/>
          <p:nvPr/>
        </p:nvSpPr>
        <p:spPr>
          <a:xfrm>
            <a:off x="7635240" y="3895343"/>
            <a:ext cx="137160" cy="137160"/>
          </a:xfrm>
          <a:prstGeom prst="ellipse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8221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Malgun Gothic"/>
              </a:defRPr>
            </a:pPr>
            <a:r>
              <a:t>5. Obstacle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82219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w=2.5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4370832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297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6. Alt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w=1.0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4846320"/>
            <a:ext cx="137160" cy="1371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773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Malgun Gothic"/>
              </a:defRPr>
            </a:pPr>
            <a:r>
              <a:t>7. Terrain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773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w=3.0</a:t>
            </a:r>
          </a:p>
        </p:txBody>
      </p:sp>
      <p:sp>
        <p:nvSpPr>
          <p:cNvPr id="29" name="Oval 28"/>
          <p:cNvSpPr/>
          <p:nvPr/>
        </p:nvSpPr>
        <p:spPr>
          <a:xfrm>
            <a:off x="7635240" y="5321808"/>
            <a:ext cx="137160" cy="13716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5248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9F9"/>
                </a:solidFill>
                <a:latin typeface="Malgun Gothic"/>
              </a:defRPr>
            </a:pPr>
            <a:r>
              <a:t>8. Corridor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486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동적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760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3A4"/>
                </a:solidFill>
                <a:latin typeface="Consolas"/>
              </a:defRPr>
            </a:pPr>
            <a:r>
              <a:t>max_speed=15m/s | alt=5~120m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TTC COLLISION PREDICTION</a:t>
            </a:r>
          </a:p>
        </p:txBody>
      </p:sp>
      <p:pic>
        <p:nvPicPr>
          <p:cNvPr id="4" name="Picture 3" descr="utm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45"/>
                </a:solidFill>
                <a:latin typeface="Malgun Gothic"/>
              </a:defRPr>
            </a:pPr>
            <a:r>
              <a:t>TTC 충돌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기존: 거리 기반 반발력</a:t>
            </a:r>
            <a:br/>
            <a:r>
              <a:t>-&gt; 고속 접근 시 반응 지연</a:t>
            </a:r>
            <a:br/>
            <a:br/>
            <a:r>
              <a:t>개선: 시간 기반 궤적 예측</a:t>
            </a:r>
            <a:br/>
            <a:r>
              <a:t>-&gt; 5초 전 선제적 회피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103120"/>
            <a:ext cx="4114800" cy="914400"/>
          </a:xfrm>
          <a:prstGeom prst="roundRect">
            <a:avLst/>
          </a:prstGeom>
          <a:solidFill>
            <a:srgbClr val="0A1A12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1488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TTC = -dot(rel_pos, rel_vel)</a:t>
            </a:r>
            <a:br/>
            <a:r>
              <a:t>      / dot(rel_vel, rel_vel)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Malgun Gothic"/>
              </a:defRPr>
            </a:pPr>
            <a:r>
              <a:t>3단계 경보 체계: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566160"/>
            <a:ext cx="41148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611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onsolas"/>
              </a:defRPr>
            </a:pPr>
            <a: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&lt;= 5.0초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221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경로 미세 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160520"/>
            <a:ext cx="41148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206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onsolas"/>
              </a:defRPr>
            </a:pPr>
            <a: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206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&lt;= 3.0초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1655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회피 기동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754880"/>
            <a:ext cx="4114800" cy="502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800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onsolas"/>
              </a:defRPr>
            </a:pPr>
            <a:r>
              <a:t>IMMINENT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00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&lt;= 1.0초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1091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긴급 수직 회피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3A4"/>
                </a:solidFill>
                <a:latin typeface="Malgun Gothic"/>
              </a:defRPr>
            </a:pPr>
            <a:r>
              <a:t>O(N^2) 전 쌍 검사</a:t>
            </a:r>
            <a:br/>
            <a:r>
              <a:t>VoxelGrid로 사전 필터링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FLIGHT CORRIDOR SYSTEM</a:t>
            </a:r>
          </a:p>
        </p:txBody>
      </p:sp>
      <p:pic>
        <p:nvPicPr>
          <p:cNvPr id="4" name="Picture 3" descr="utm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  <a:latin typeface="Malgun Gothic"/>
              </a:defRPr>
            </a:pPr>
            <a:r>
              <a:t>비행 회랑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Malgun Gothic"/>
              </a:defRPr>
            </a:pPr>
            <a:r>
              <a:t>3 고도층 분리: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91640"/>
            <a:ext cx="4114800" cy="457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onsolas"/>
              </a:defRPr>
            </a:pPr>
            <a:r>
              <a:t>LOW   5~30m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촬영, 농업, 측량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240280"/>
            <a:ext cx="4114800" cy="457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  <a:latin typeface="Consolas"/>
              </a:defRPr>
            </a:pPr>
            <a:r>
              <a:t>MED  30~60m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배송, 순찰, 감시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88920"/>
            <a:ext cx="4114800" cy="4572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HIGH 60~120m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장거리, 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Malgun Gothic"/>
              </a:defRPr>
            </a:pPr>
            <a:r>
              <a:t>ICAO 방향별 고도 분리: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Eastbound (0~180 deg) -&gt; 기본 고도</a:t>
            </a:r>
            <a:br/>
            <a:r>
              <a:t>Westbound (180~360 deg) -&gt; +15m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Malgun Gothic"/>
              </a:defRPr>
            </a:pPr>
            <a:r>
              <a:t>고도 프로파일: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754880"/>
            <a:ext cx="128016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0~15% 상승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754880"/>
            <a:ext cx="1280160" cy="36576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15~85% 순항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754880"/>
            <a:ext cx="12801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85~100% 하강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3A4"/>
                </a:solidFill>
                <a:latin typeface="Malgun Gothic"/>
              </a:defRPr>
            </a:pPr>
            <a:r>
              <a:t>회랑 폭: 20m | 양방향 지원</a:t>
            </a:r>
            <a:br/>
            <a:r>
              <a:t>교차점 자동 검출 -&gt; 시간 분리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AUTHORITY MODE FSM</a:t>
            </a:r>
          </a:p>
        </p:txBody>
      </p:sp>
      <p:pic>
        <p:nvPicPr>
          <p:cNvPr id="4" name="Picture 3" descr="utm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388FF"/>
                </a:solidFill>
                <a:latin typeface="Malgun Gothic"/>
              </a:defRPr>
            </a:pPr>
            <a:r>
              <a:t>Authority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Malgun Gothic"/>
              </a:defRPr>
            </a:pPr>
            <a:r>
              <a:t>우선순위 기반 5단계 상태 머신: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4114800" cy="5486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onsolas"/>
              </a:defRPr>
            </a:pPr>
            <a:r>
              <a:t>P0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TTC&lt;=1s, GPS 상실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286000"/>
            <a:ext cx="4114800" cy="5486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onsolas"/>
              </a:defRPr>
            </a:pPr>
            <a:r>
              <a:t>P1 DECONFLICT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TTC&lt;=5s, 회랑 교차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926080"/>
            <a:ext cx="4114800" cy="5486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8FF"/>
                </a:solidFill>
                <a:latin typeface="Consolas"/>
              </a:defRPr>
            </a:pPr>
            <a:r>
              <a:t>P2 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004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임무 수행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566159"/>
            <a:ext cx="4114800" cy="5486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61187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  <a:latin typeface="Consolas"/>
              </a:defRPr>
            </a:pPr>
            <a:r>
              <a:t>P3 CRUISE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404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Boids 편대 비행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206240"/>
            <a:ext cx="4114800" cy="5486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251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onsolas"/>
              </a:defRPr>
            </a:pPr>
            <a:r>
              <a:t>P4 IDLE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805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대기/착륙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937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전이 규칙:</a:t>
            </a:r>
            <a:br/>
            <a:r>
              <a:t>- 높은 우선순위가 항상 선점</a:t>
            </a:r>
            <a:br/>
            <a:r>
              <a:t>- EMERGENCY는 즉시 전환</a:t>
            </a:r>
            <a:br/>
            <a:r>
              <a:t>- 배터리 20% -&gt; 강제 EMERGENCY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DATA MODEL &amp; DRONE STATE</a:t>
            </a:r>
          </a:p>
        </p:txBody>
      </p:sp>
      <p:pic>
        <p:nvPicPr>
          <p:cNvPr id="4" name="Picture 3" descr="utm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algun Gothic"/>
              </a:defRPr>
            </a:pPr>
            <a:r>
              <a:t>데이터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4114800" cy="914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3533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onsolas"/>
              </a:defRPr>
            </a:pPr>
            <a:r>
              <a:t>DroneState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위치, 속도, 헤딩, 제한값</a:t>
            </a:r>
            <a:br/>
            <a:r>
              <a:t>(= SC2 Unit 확장)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331720"/>
            <a:ext cx="4114800" cy="914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04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onsolas"/>
              </a:defRPr>
            </a:pPr>
            <a:r>
              <a:t>Point3D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97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3D 좌표 + 거리 계산</a:t>
            </a:r>
            <a:br/>
            <a:r>
              <a:t>(= SC2 Point2 확장)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383279"/>
            <a:ext cx="4114800" cy="914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4564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onsolas"/>
              </a:defRPr>
            </a:pPr>
            <a:r>
              <a:t>CollisionAlert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490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TTC, 충돌점, 심각도</a:t>
            </a:r>
            <a:br/>
            <a:r>
              <a:t>3단계 경보 데이터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434840"/>
            <a:ext cx="4114800" cy="9144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5079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onsolas"/>
              </a:defRPr>
            </a:pPr>
            <a:r>
              <a:t>FlightCorridor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800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웨이포인트, 폭, 고도층</a:t>
            </a:r>
            <a:br/>
            <a:r>
              <a:t>양방향 회랑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3A4"/>
                </a:solidFill>
                <a:latin typeface="Consolas"/>
              </a:defRPr>
            </a:pPr>
            <a:r>
              <a:t>KDTree3D O(logN) | VoxelGrid 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2194560" cy="36576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FAIL-SAFE &amp; SELF HEALING</a:t>
            </a:r>
          </a:p>
        </p:txBody>
      </p:sp>
      <p:pic>
        <p:nvPicPr>
          <p:cNvPr id="4" name="Picture 3" descr="utm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731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45"/>
                </a:solidFill>
                <a:latin typeface="Malgun Gothic"/>
              </a:defRPr>
            </a:pPr>
            <a:r>
              <a:t>Fail-Safe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4114800" cy="9601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3533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Malgun Gothic"/>
              </a:defRPr>
            </a:pPr>
            <a:r>
              <a:t>배터리 보호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30% 경고 -&gt; 20% 강제귀환</a:t>
            </a:r>
            <a:br/>
            <a:r>
              <a:t>10% 긴급착륙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377439"/>
            <a:ext cx="4114800" cy="9601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5059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algun Gothic"/>
              </a:defRPr>
            </a:pPr>
            <a:r>
              <a:t>통신 두절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4319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3s Boids자율 -&gt; 10s 호버링</a:t>
            </a:r>
            <a:br/>
            <a:r>
              <a:t>30s 자동귀환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474720"/>
            <a:ext cx="4114800" cy="9601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5478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GPS 상실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840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IMU 관성항법 전환</a:t>
            </a:r>
            <a:br/>
            <a:r>
              <a:t>이웃 드론 상대위치 활용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8E8"/>
                </a:solidFill>
                <a:latin typeface="Malgun Gothic"/>
              </a:defRPr>
            </a:pPr>
            <a:r>
              <a:t>안전 규정 준수: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KALIS 한국 무인기 안전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120m 고도 제한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GeoFence 비행금지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Remote ID 식별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5_3d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"/>
            <a:ext cx="5943600" cy="567131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3D LIVE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사각지대 없는 3D 입체 스캔</a:t>
            </a:r>
            <a:br/>
            <a:r>
              <a:t>및 실시간 좌표 추적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onsolas"/>
              </a:defRPr>
            </a:pPr>
            <a:r>
              <a:t>PHASE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Mesh 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6대 드론이 육각형 대형으로</a:t>
            </a:r>
            <a:br/>
            <a:r>
              <a:t>레이더 돔 전개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C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PHASE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탐지 &amp; 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RF 스캔 -&gt; MAC 추출</a:t>
            </a:r>
            <a:br/>
            <a:r>
              <a:t>-&gt; DB 등록 -&gt; 허가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onsolas"/>
              </a:defRPr>
            </a:pPr>
            <a:r>
              <a:t>PHASE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타이머 &amp;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삼각측량으로 X,Y,Z</a:t>
            </a:r>
            <a:br/>
            <a:r>
              <a:t>실시간 위치 + 카운트다운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Consolas"/>
              </a:defRPr>
            </a:pPr>
            <a:r>
              <a:t>PHASE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경고 &amp; 퇴각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2분 전 경고 -&gt;</a:t>
            </a:r>
            <a:br/>
            <a:r>
              <a:t>강제 복귀 -&gt; 에스코트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4572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3D 인터랙티브 관제 시뮬레이터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132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894"/>
                </a:solidFill>
                <a:latin typeface="Consolas"/>
              </a:defRPr>
            </a:pPr>
            <a:r>
              <a:t>Three.js 렌더링 · 3D 궤도 제어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5029200"/>
            <a:ext cx="4572000" cy="7315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120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실시간 Fleet 통제 대시보드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4132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894"/>
                </a:solidFill>
                <a:latin typeface="Consolas"/>
              </a:defRPr>
            </a:pPr>
            <a:r>
              <a:t>SVG 레이더 시각화 · Fleet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6_timer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5486400" cy="13630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REAL-TIME CONTROL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타이머 기반 자동화 관제</a:t>
            </a:r>
            <a:br/>
            <a:r>
              <a:t>및 퇴각 통제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78892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algun Gothic"/>
              </a:defRPr>
            </a:pPr>
            <a:r>
              <a:t>정상 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&gt; 3분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onsolas"/>
              </a:defRPr>
            </a:pPr>
            <a:r>
              <a:t>08:32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Heartbeat 정상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2788920"/>
            <a:ext cx="822960" cy="8229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  <a:latin typeface="Malgun Gothic"/>
              </a:defRPr>
            </a:pPr>
            <a:r>
              <a:t>시간 임박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&lt; 2분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800"/>
                </a:solidFill>
                <a:latin typeface="Consolas"/>
              </a:defRPr>
            </a:pPr>
            <a:r>
              <a:t>01:26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Push 알림 전송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9440" y="2788920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Malgun Gothic"/>
              </a:defRPr>
            </a:pPr>
            <a:r>
              <a:t>비행 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Consolas"/>
              </a:defRPr>
            </a:pPr>
            <a:r>
              <a:t>00:00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강제 복귀 명령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0" y="2788920"/>
            <a:ext cx="822960" cy="822960"/>
          </a:xfrm>
          <a:prstGeom prst="ellipse">
            <a:avLst/>
          </a:prstGeom>
          <a:solidFill>
            <a:srgbClr val="FF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0044"/>
                </a:solidFill>
                <a:latin typeface="Malgun Gothic"/>
              </a:defRPr>
            </a:pPr>
            <a:r>
              <a:t>긴급 프로토콜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미응답 30s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0044"/>
                </a:solidFill>
                <a:latin typeface="Consolas"/>
              </a:defRPr>
            </a:pPr>
            <a:r>
              <a:t>! ! 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에스코트 개입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7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943600" cy="316000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57200"/>
            <a:ext cx="2194560" cy="36576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EXPECTED IMPACT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지형에 구애받지 않는</a:t>
            </a:r>
            <a:br/>
            <a:r>
              <a:t>이동식 관제 인프라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0312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 anchor="ctr" marL="109728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4545"/>
                          </a:solidFill>
                          <a:latin typeface="Malgun Gothic"/>
                        </a:defRPr>
                      </a:pPr>
                      <a:r>
                        <a:t>기존 방식</a:t>
                      </a:r>
                    </a:p>
                  </a:txBody>
                  <a:tcPr anchor="ctr" marL="109728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Swarm-Net</a:t>
                      </a:r>
                    </a:p>
                  </a:txBody>
                  <a:tcPr anchor="ctr" marL="109728" marT="45720" marB="45720">
                    <a:solidFill>
                      <a:srgbClr val="151E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탐지 범위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고정 레이더 반경 내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군집 이동으로 동적 커버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배치 시간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인프라 설치 수 개월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드론 출격 수 분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비용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CAPEX 수억 원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OPEX 중심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유연성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고정, 재배치 불가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실시간 공역 재구성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확장성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추가 기지국 필요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드론 추가 투입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체공 지속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해당 없음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Relay + Tethered</a:t>
                      </a:r>
                    </a:p>
                  </a:txBody>
                  <a:tcPr anchor="ctr" marL="109728" marT="45720" marB="45720"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20116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군사 야전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신속 방어망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0116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불법 드론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공항 보안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3832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재난 현장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긴급 관제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3832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드론 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충돌 방지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7548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UAM 공역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복층 비행로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7548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농업 방제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구역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9144000" cy="358616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457200"/>
            <a:ext cx="2194560" cy="36576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CONCLUSION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80" y="822960"/>
            <a:ext cx="11887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안전하고 체계적인 하늘의 미래,</a:t>
            </a:r>
            <a:br/>
            <a:r>
              <a:t>Swarm-Net이 만들어갑니다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4114800" cy="21031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C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Boids 3D Controller (8-Force)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TTC 충돌 예측 (3단계 경보)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가상 비행 회랑 (3 고도층)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Authority Mode FSM (5 상태)</a:t>
            </a:r>
          </a:p>
          <a:p>
            <a:pPr>
              <a:spcAft>
                <a:spcPts val="800"/>
              </a:spcAft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3D 시각화 데모 + 대시보드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377440"/>
            <a:ext cx="640080" cy="64008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697480"/>
            <a:ext cx="82296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SC2 시뮬레이션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10,000+ 게임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377440"/>
            <a:ext cx="640080" cy="64008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2697480"/>
            <a:ext cx="82296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3D 시뮬레이터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파라미터 2D-&gt;3D 적응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49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0" y="2377440"/>
            <a:ext cx="640080" cy="640080"/>
          </a:xfrm>
          <a:prstGeom prst="ellipse">
            <a:avLst/>
          </a:prstGeom>
          <a:noFill/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2697480"/>
            <a:ext cx="82296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Consolas"/>
              </a:defRPr>
            </a:pPr>
            <a:r>
              <a:t>STAGE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실 드론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5대 편대 비행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49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Consolas"/>
              </a:defRPr>
            </a:pPr>
            <a:r>
              <a:t>NEXT PHASE</a:t>
            </a:r>
          </a:p>
        </p:txBody>
      </p:sp>
      <p:sp>
        <p:nvSpPr>
          <p:cNvPr id="27" name="Oval 26"/>
          <p:cNvSpPr/>
          <p:nvPr/>
        </p:nvSpPr>
        <p:spPr>
          <a:xfrm>
            <a:off x="10789920" y="2377440"/>
            <a:ext cx="640080" cy="640080"/>
          </a:xfrm>
          <a:prstGeom prst="ellipse">
            <a:avLst/>
          </a:prstGeom>
          <a:noFill/>
          <a:ln w="317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31089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388FF"/>
                </a:solidFill>
                <a:latin typeface="Consolas"/>
              </a:defRPr>
            </a:pPr>
            <a:r>
              <a:t>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도시 스케일 ATC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100+ 드론 관제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749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388FF"/>
                </a:solidFill>
                <a:latin typeface="Consolas"/>
              </a:defRPr>
            </a:pPr>
            <a:r>
              <a:t>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1371600" y="914400"/>
            <a:ext cx="2743200" cy="2743200"/>
          </a:xfrm>
          <a:prstGeom prst="hexagon">
            <a:avLst/>
          </a:prstGeom>
          <a:noFill/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8229600" y="3200400"/>
            <a:ext cx="2286000" cy="2286000"/>
          </a:xfrm>
          <a:prstGeom prst="hexagon">
            <a:avLst/>
          </a:prstGeom>
          <a:noFill/>
          <a:ln w="1270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8B8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8"/>
                </a:solidFill>
                <a:latin typeface="Malgun Gothic"/>
              </a:defRPr>
            </a:pPr>
            <a:r>
              <a:t>Swarm-Net: 군집 UAV 기반 다이내믹 공역 통제 시스템</a:t>
            </a:r>
            <a:br/>
            <a:r>
              <a:t>Capstone Design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846320"/>
            <a:ext cx="1371600" cy="36576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Boids 3D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846320"/>
            <a:ext cx="137160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UTM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4846320"/>
            <a:ext cx="13716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TTC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59" y="4846320"/>
            <a:ext cx="1371600" cy="36576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Fail-Safe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846320"/>
            <a:ext cx="1371600" cy="365760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B101F"/>
                </a:solidFill>
                <a:latin typeface="Consolas"/>
              </a:defRPr>
            </a:pPr>
            <a:r>
              <a:t>Sim-to-Real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894"/>
                </a:solidFill>
                <a:latin typeface="Consolas"/>
              </a:defRPr>
            </a:pPr>
            <a:r>
              <a:t>SWARM-NET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8B8"/>
                </a:solidFill>
                <a:latin typeface="Consolas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